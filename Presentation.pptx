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6858000" cx="12192000"/>
  <p:notesSz cx="6858000" cy="9144000"/>
  <p:embeddedFontLst>
    <p:embeddedFont>
      <p:font typeface="Inter SemiBold"/>
      <p:regular r:id="rId22"/>
      <p:bold r:id="rId23"/>
      <p:italic r:id="rId24"/>
      <p:boldItalic r:id="rId25"/>
    </p:embeddedFont>
    <p:embeddedFont>
      <p:font typeface="Inter"/>
      <p:regular r:id="rId26"/>
      <p:bold r:id="rId27"/>
      <p:italic r:id="rId28"/>
      <p:boldItalic r:id="rId29"/>
    </p:embeddedFont>
    <p:embeddedFont>
      <p:font typeface="Inter ExtraBold"/>
      <p:bold r:id="rId30"/>
      <p:boldItalic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D6DFDF5-AB1D-409E-A769-499A69F08684}">
  <a:tblStyle styleId="{7D6DFDF5-AB1D-409E-A769-499A69F08684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fill>
          <a:solidFill>
            <a:srgbClr val="CFD7E7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FD7E7"/>
          </a:solidFill>
        </a:fill>
      </a:tcStyle>
    </a:band1V>
    <a:band2V>
      <a:tcTxStyle b="off" i="off"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font" Target="fonts/InterSemiBold-regular.fntdata"/><Relationship Id="rId21" Type="http://schemas.openxmlformats.org/officeDocument/2006/relationships/slide" Target="slides/slide15.xml"/><Relationship Id="rId24" Type="http://schemas.openxmlformats.org/officeDocument/2006/relationships/font" Target="fonts/InterSemiBold-italic.fntdata"/><Relationship Id="rId23" Type="http://schemas.openxmlformats.org/officeDocument/2006/relationships/font" Target="fonts/InterSemiBold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Inter-regular.fntdata"/><Relationship Id="rId25" Type="http://schemas.openxmlformats.org/officeDocument/2006/relationships/font" Target="fonts/InterSemiBold-boldItalic.fntdata"/><Relationship Id="rId28" Type="http://schemas.openxmlformats.org/officeDocument/2006/relationships/font" Target="fonts/Inter-italic.fntdata"/><Relationship Id="rId27" Type="http://schemas.openxmlformats.org/officeDocument/2006/relationships/font" Target="fonts/Inter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Inter-bold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InterExtraBold-boldItalic.fntdata"/><Relationship Id="rId30" Type="http://schemas.openxmlformats.org/officeDocument/2006/relationships/font" Target="fonts/InterExtraBold-bold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8" name="Google Shape;11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5" name="Google Shape;13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6" name="Google Shape;146;p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1" name="Google Shape;16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6" name="Google Shape;176;p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1" name="Google Shape;191;p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6" name="Google Shape;20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1" name="Google Shape;221;p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6" name="Google Shape;23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f55a0656d9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7" name="Google Shape;247;g3f55a0656d9_0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f55a0656d9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0" name="Google Shape;260;g3f55a0656d9_0_3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0" name="Google Shape;27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2" name="Google Shape;292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1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5" Type="http://schemas.openxmlformats.org/officeDocument/2006/relationships/image" Target="../media/image14.png"/><Relationship Id="rId6" Type="http://schemas.openxmlformats.org/officeDocument/2006/relationships/image" Target="../media/image2.png"/><Relationship Id="rId7" Type="http://schemas.openxmlformats.org/officeDocument/2006/relationships/image" Target="../media/image22.png"/><Relationship Id="rId8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hyperlink" Target="https://huggingface.co/datasets/maharshipandya/spotify-tracks-dataset" TargetMode="External"/><Relationship Id="rId5" Type="http://schemas.openxmlformats.org/officeDocument/2006/relationships/hyperlink" Target="https://huggingface.co/datasets/maharshipandya/spotify-tracks-dataset" TargetMode="External"/><Relationship Id="rId6" Type="http://schemas.openxmlformats.org/officeDocument/2006/relationships/image" Target="../media/image1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1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2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Relationship Id="rId4" Type="http://schemas.openxmlformats.org/officeDocument/2006/relationships/image" Target="../media/image3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3.png"/><Relationship Id="rId5" Type="http://schemas.openxmlformats.org/officeDocument/2006/relationships/image" Target="../media/image1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17.png"/><Relationship Id="rId9" Type="http://schemas.openxmlformats.org/officeDocument/2006/relationships/image" Target="../media/image20.png"/><Relationship Id="rId5" Type="http://schemas.openxmlformats.org/officeDocument/2006/relationships/image" Target="../media/image26.png"/><Relationship Id="rId6" Type="http://schemas.openxmlformats.org/officeDocument/2006/relationships/image" Target="../media/image29.png"/><Relationship Id="rId7" Type="http://schemas.openxmlformats.org/officeDocument/2006/relationships/image" Target="../media/image19.png"/><Relationship Id="rId8" Type="http://schemas.openxmlformats.org/officeDocument/2006/relationships/image" Target="../media/image2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4317652"/>
            <a:ext cx="6298406" cy="552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6" name="Google Shape;86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387953" y="2147887"/>
            <a:ext cx="2286000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11104685" y="6467475"/>
            <a:ext cx="352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01 / 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771525" y="1987897"/>
            <a:ext cx="6613326" cy="11391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7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00"/>
              <a:buFont typeface="Arial"/>
              <a:buNone/>
            </a:pPr>
            <a:r>
              <a:rPr b="0" i="0" lang="en-US" sz="39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Decodificare il Successo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39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 su </a:t>
            </a:r>
            <a:r>
              <a:rPr b="0" i="0" lang="en-US" sz="3900" u="none" cap="none" strike="noStrike">
                <a:solidFill>
                  <a:srgbClr val="FF6D00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Spotify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771525" y="3317527"/>
            <a:ext cx="62985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Analisi statistica e visualizzazione scientifica di più di 100.000 brani per identificare l'identità acustica delle hit di successo.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8749903" y="4576762"/>
            <a:ext cx="15621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REPOSITORY CODICE &amp; DATI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771525" y="4559127"/>
            <a:ext cx="21621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Team di Analisi</a:t>
            </a:r>
            <a:endParaRPr b="0" i="0" sz="1125" u="none" cap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sz="1125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</a:t>
            </a:r>
            <a:r>
              <a:rPr lang="en-US" sz="1125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aha</a:t>
            </a:r>
            <a:r>
              <a:rPr b="0" i="0" lang="en-US" sz="1125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A</a:t>
            </a:r>
            <a:r>
              <a:rPr lang="en-US" sz="1125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nass</a:t>
            </a:r>
            <a:r>
              <a:rPr b="0" i="0" lang="en-US" sz="1125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Seddik &amp;</a:t>
            </a:r>
            <a:endParaRPr b="0" i="0" sz="1125" u="none" cap="none" strike="noStrike">
              <a:solidFill>
                <a:srgbClr val="1E1B24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</a:t>
            </a:r>
            <a:r>
              <a:rPr lang="en-US" sz="1125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aniele</a:t>
            </a:r>
            <a:r>
              <a:rPr b="0" i="0" lang="en-US" sz="1125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Zmarandache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3" name="Google Shape;93;p13" title="qrcode_github.com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609401" y="2318075"/>
            <a:ext cx="1843088" cy="18430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8" name="Google Shape;9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9" name="Google Shape;99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779216"/>
            <a:ext cx="3359050" cy="2333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0" name="Google Shape;100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16325" y="2779216"/>
            <a:ext cx="3359199" cy="2333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1" name="Google Shape;101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61275" y="2779216"/>
            <a:ext cx="3359050" cy="2333625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914400" y="581025"/>
            <a:ext cx="11031378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OBIETTIVI: AMPLIFICARE LA COGNIZIONE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4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4"/>
          <p:cNvSpPr txBox="1"/>
          <p:nvPr/>
        </p:nvSpPr>
        <p:spPr>
          <a:xfrm>
            <a:off x="771525" y="1041945"/>
            <a:ext cx="10648950" cy="23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visualizzazione dei dati di Spotify non deve decorare, ma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mostrare confronti, causalità ed evidenze strutturate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4"/>
          <p:cNvSpPr txBox="1"/>
          <p:nvPr/>
        </p:nvSpPr>
        <p:spPr>
          <a:xfrm>
            <a:off x="11049000" y="6467475"/>
            <a:ext cx="371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02 /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1066800" y="3588841"/>
            <a:ext cx="29069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1B24"/>
                </a:solidFill>
                <a:latin typeface="Inter"/>
                <a:ea typeface="Inter"/>
                <a:cs typeface="Inter"/>
                <a:sym typeface="Inter"/>
              </a:rPr>
              <a:t>Approccio Analitico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14"/>
          <p:cNvSpPr txBox="1"/>
          <p:nvPr/>
        </p:nvSpPr>
        <p:spPr>
          <a:xfrm>
            <a:off x="1066800" y="3960316"/>
            <a:ext cx="2768400" cy="95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Estrarre pattern audio da un campione massivo di 100k tracce per mappare le combinazioni acustiche preferite dal pubblico.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4711600" y="3588841"/>
            <a:ext cx="290708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1B24"/>
                </a:solidFill>
                <a:latin typeface="Inter"/>
                <a:ea typeface="Inter"/>
                <a:cs typeface="Inter"/>
                <a:sym typeface="Inter"/>
              </a:rPr>
              <a:t>Rigore Scientifico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4"/>
          <p:cNvSpPr txBox="1"/>
          <p:nvPr/>
        </p:nvSpPr>
        <p:spPr>
          <a:xfrm>
            <a:off x="4711600" y="3960316"/>
            <a:ext cx="2768649" cy="642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Applicare i teoremi di Tufte riducendo il rumore visivo al minimo ed integrando testo descrittivo e dati puri.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14"/>
          <p:cNvSpPr txBox="1"/>
          <p:nvPr/>
        </p:nvSpPr>
        <p:spPr>
          <a:xfrm>
            <a:off x="8356550" y="3588841"/>
            <a:ext cx="29069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1B24"/>
                </a:solidFill>
                <a:latin typeface="Inter"/>
                <a:ea typeface="Inter"/>
                <a:cs typeface="Inter"/>
                <a:sym typeface="Inter"/>
              </a:rPr>
              <a:t>Guida Strategica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14"/>
          <p:cNvSpPr txBox="1"/>
          <p:nvPr/>
        </p:nvSpPr>
        <p:spPr>
          <a:xfrm>
            <a:off x="8356550" y="3960316"/>
            <a:ext cx="2768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Convertire i risultati complessi in raccomandazioni pratiche ed ingegneristiche dedicate ad artisti indipendenti ed emergenti.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13" name="Google Shape;113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66800" y="3103066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4" name="Google Shape;114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711600" y="3103066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356550" y="3103066"/>
            <a:ext cx="304800" cy="30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0" name="Google Shape;12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5"/>
          <p:cNvSpPr txBox="1"/>
          <p:nvPr/>
        </p:nvSpPr>
        <p:spPr>
          <a:xfrm>
            <a:off x="428775" y="357525"/>
            <a:ext cx="4134000" cy="81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METODO: </a:t>
            </a:r>
            <a:endParaRPr b="0" i="0" sz="2400" u="none" cap="none" strike="noStrike">
              <a:solidFill>
                <a:srgbClr val="1E1B24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ANALISI SU 1</a:t>
            </a:r>
            <a:r>
              <a:rPr lang="en-US" sz="2400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00</a:t>
            </a: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K TRACCE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5"/>
          <p:cNvSpPr/>
          <p:nvPr/>
        </p:nvSpPr>
        <p:spPr>
          <a:xfrm>
            <a:off x="295275" y="581025"/>
            <a:ext cx="47700" cy="3657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5"/>
          <p:cNvSpPr txBox="1"/>
          <p:nvPr/>
        </p:nvSpPr>
        <p:spPr>
          <a:xfrm>
            <a:off x="295275" y="1303775"/>
            <a:ext cx="5051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Integrazione di estrazione API, pulizia dei dati e modellazione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5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5"/>
          <p:cNvSpPr txBox="1"/>
          <p:nvPr/>
        </p:nvSpPr>
        <p:spPr>
          <a:xfrm>
            <a:off x="11039475" y="6467475"/>
            <a:ext cx="536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03 / 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5"/>
          <p:cNvSpPr txBox="1"/>
          <p:nvPr/>
        </p:nvSpPr>
        <p:spPr>
          <a:xfrm>
            <a:off x="533400" y="2467867"/>
            <a:ext cx="5458500" cy="54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Estrazione API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più di 1</a:t>
            </a:r>
            <a:r>
              <a:rPr lang="en-US" sz="13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00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.000 tracce musicali </a:t>
            </a:r>
            <a:r>
              <a:rPr lang="en-US" sz="13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estratte </a:t>
            </a:r>
            <a:endParaRPr sz="135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dai database di Spotify (tramite </a:t>
            </a:r>
            <a:r>
              <a:rPr lang="en-US" sz="1350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/>
              </a:rPr>
              <a:t>huggin</a:t>
            </a:r>
            <a:r>
              <a:rPr lang="en-US" u="sng">
                <a:solidFill>
                  <a:schemeClr val="hlink"/>
                </a:solidFill>
                <a:hlinkClick r:id="rId5"/>
              </a:rPr>
              <a:t>face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5"/>
          <p:cNvSpPr txBox="1"/>
          <p:nvPr/>
        </p:nvSpPr>
        <p:spPr>
          <a:xfrm>
            <a:off x="533400" y="3206948"/>
            <a:ext cx="5458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Standardizzazione Dati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5"/>
          <p:cNvSpPr txBox="1"/>
          <p:nvPr/>
        </p:nvSpPr>
        <p:spPr>
          <a:xfrm>
            <a:off x="533400" y="3681478"/>
            <a:ext cx="54585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Pipeline di Calcolo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Elaborazione statistica e data cleaning sviluppata interamente in ambiente </a:t>
            </a: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Python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5"/>
          <p:cNvSpPr txBox="1"/>
          <p:nvPr/>
        </p:nvSpPr>
        <p:spPr>
          <a:xfrm>
            <a:off x="295275" y="2448817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5"/>
          <p:cNvSpPr txBox="1"/>
          <p:nvPr/>
        </p:nvSpPr>
        <p:spPr>
          <a:xfrm>
            <a:off x="295275" y="3187898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5"/>
          <p:cNvSpPr txBox="1"/>
          <p:nvPr/>
        </p:nvSpPr>
        <p:spPr>
          <a:xfrm>
            <a:off x="295275" y="3662428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Google Shape;132;p15" title="distribution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346975" y="0"/>
            <a:ext cx="6845024" cy="6467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7" name="Google Shape;13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6"/>
          <p:cNvSpPr txBox="1"/>
          <p:nvPr/>
        </p:nvSpPr>
        <p:spPr>
          <a:xfrm>
            <a:off x="914400" y="581025"/>
            <a:ext cx="11031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I 15 generi più popolari : il dominio del mondo Pop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16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6"/>
          <p:cNvSpPr txBox="1"/>
          <p:nvPr/>
        </p:nvSpPr>
        <p:spPr>
          <a:xfrm>
            <a:off x="771525" y="1041945"/>
            <a:ext cx="10648950" cy="23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L'analisi di genere mostra una gerarchia rigida: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la musica pop detiene il monopolio della popolarità di vertice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16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6"/>
          <p:cNvSpPr txBox="1"/>
          <p:nvPr/>
        </p:nvSpPr>
        <p:spPr>
          <a:xfrm>
            <a:off x="11039475" y="6467475"/>
            <a:ext cx="381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04 / 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3" name="Google Shape;143;p16" title="topsong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434250"/>
            <a:ext cx="11921625" cy="490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8" name="Google Shape;14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53175"/>
            <a:ext cx="10648949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7"/>
          <p:cNvSpPr txBox="1"/>
          <p:nvPr/>
        </p:nvSpPr>
        <p:spPr>
          <a:xfrm>
            <a:off x="914400" y="581025"/>
            <a:ext cx="11031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TESTO: LE HIT ESCLUDONO </a:t>
            </a:r>
            <a:r>
              <a:rPr lang="en-US" sz="2100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EXPLICIT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771525" y="581025"/>
            <a:ext cx="47700" cy="3201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7"/>
          <p:cNvSpPr txBox="1"/>
          <p:nvPr/>
        </p:nvSpPr>
        <p:spPr>
          <a:xfrm>
            <a:off x="771525" y="996255"/>
            <a:ext cx="10649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Solo l'</a:t>
            </a:r>
            <a:r>
              <a:rPr b="0" i="0" lang="en-US" sz="120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8.62%</a:t>
            </a: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dei brani analizzati contiene linguaggio esplicito, evidenziando una massiccia preferenza per contenuti radio-safe.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17"/>
          <p:cNvSpPr txBox="1"/>
          <p:nvPr/>
        </p:nvSpPr>
        <p:spPr>
          <a:xfrm>
            <a:off x="771525" y="6477000"/>
            <a:ext cx="28575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7"/>
          <p:cNvSpPr txBox="1"/>
          <p:nvPr/>
        </p:nvSpPr>
        <p:spPr>
          <a:xfrm>
            <a:off x="11077575" y="6477000"/>
            <a:ext cx="342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05 / 1</a:t>
            </a:r>
            <a:r>
              <a:rPr lang="en-US" sz="825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7"/>
          <p:cNvSpPr txBox="1"/>
          <p:nvPr/>
        </p:nvSpPr>
        <p:spPr>
          <a:xfrm>
            <a:off x="1009650" y="1581138"/>
            <a:ext cx="4896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Fattore di Accessibilità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Brani non espliciti (91.4%) garantiscono la massima diffusione radiofonica e l'inserimento in playlist algoritmiche pubbliche.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7"/>
          <p:cNvSpPr txBox="1"/>
          <p:nvPr/>
        </p:nvSpPr>
        <p:spPr>
          <a:xfrm>
            <a:off x="6397675" y="1628763"/>
            <a:ext cx="4896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Impatto sulla Popolarità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Sebbene la presenza di contenuto esplicito non riduca la mediana della popolarità, limita drasticamente il volume complessivo di ascolto cumulativo.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7"/>
          <p:cNvSpPr txBox="1"/>
          <p:nvPr/>
        </p:nvSpPr>
        <p:spPr>
          <a:xfrm>
            <a:off x="771525" y="1533513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17"/>
          <p:cNvSpPr txBox="1"/>
          <p:nvPr/>
        </p:nvSpPr>
        <p:spPr>
          <a:xfrm>
            <a:off x="6159550" y="1581138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8" name="Google Shape;158;p17" title="violi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9225" y="2593926"/>
            <a:ext cx="10827899" cy="3759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3" name="Google Shape;163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8"/>
          <p:cNvSpPr txBox="1"/>
          <p:nvPr/>
        </p:nvSpPr>
        <p:spPr>
          <a:xfrm>
            <a:off x="914400" y="581025"/>
            <a:ext cx="11031378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DURATA: HIT SOTTO I 3.5 MINUTI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8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8"/>
          <p:cNvSpPr txBox="1"/>
          <p:nvPr/>
        </p:nvSpPr>
        <p:spPr>
          <a:xfrm>
            <a:off x="771525" y="1041945"/>
            <a:ext cx="10648950" cy="23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saturazione della working memory e il crollo dell'attenzione favoriscono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brani brevi con strutture ad alto impatto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8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8"/>
          <p:cNvSpPr txBox="1"/>
          <p:nvPr/>
        </p:nvSpPr>
        <p:spPr>
          <a:xfrm>
            <a:off x="11049000" y="6467475"/>
            <a:ext cx="371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06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/ 1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18"/>
          <p:cNvSpPr txBox="1"/>
          <p:nvPr/>
        </p:nvSpPr>
        <p:spPr>
          <a:xfrm>
            <a:off x="579222" y="5393925"/>
            <a:ext cx="4400400" cy="8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Contrazione Temporale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Le hit moderne hanno ridotto la loro estensione di oltre 45 secondi nell'ultimo decennio.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8"/>
          <p:cNvSpPr txBox="1"/>
          <p:nvPr/>
        </p:nvSpPr>
        <p:spPr>
          <a:xfrm>
            <a:off x="8142387" y="5393916"/>
            <a:ext cx="3576600" cy="8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Fattore Skip-Rate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Spotify penalizza i brani non completati; durate minori assicurano tassi di completamento più elevati.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18"/>
          <p:cNvSpPr txBox="1"/>
          <p:nvPr/>
        </p:nvSpPr>
        <p:spPr>
          <a:xfrm>
            <a:off x="7605712" y="2913608"/>
            <a:ext cx="133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18"/>
          <p:cNvSpPr txBox="1"/>
          <p:nvPr/>
        </p:nvSpPr>
        <p:spPr>
          <a:xfrm>
            <a:off x="7605712" y="3926978"/>
            <a:ext cx="133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18" title="duration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5600" y="1377100"/>
            <a:ext cx="11820176" cy="3815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8" name="Google Shape;17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53175"/>
            <a:ext cx="10648949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19"/>
          <p:cNvSpPr txBox="1"/>
          <p:nvPr/>
        </p:nvSpPr>
        <p:spPr>
          <a:xfrm>
            <a:off x="914400" y="581025"/>
            <a:ext cx="11031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ATTENZIONE: DANCEABILITY OTTIMIZZATA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19"/>
          <p:cNvSpPr/>
          <p:nvPr/>
        </p:nvSpPr>
        <p:spPr>
          <a:xfrm>
            <a:off x="771525" y="581025"/>
            <a:ext cx="47700" cy="3201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9"/>
          <p:cNvSpPr txBox="1"/>
          <p:nvPr/>
        </p:nvSpPr>
        <p:spPr>
          <a:xfrm>
            <a:off x="771525" y="996255"/>
            <a:ext cx="10649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correlazione positiva dimostra come la ballabilità sia un </a:t>
            </a:r>
            <a:r>
              <a:rPr b="0" i="0" lang="en-US" sz="120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requisito fondamentale per agganciare le playlist di vertice</a:t>
            </a: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9"/>
          <p:cNvSpPr txBox="1"/>
          <p:nvPr/>
        </p:nvSpPr>
        <p:spPr>
          <a:xfrm>
            <a:off x="771525" y="6477000"/>
            <a:ext cx="28575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9"/>
          <p:cNvSpPr txBox="1"/>
          <p:nvPr/>
        </p:nvSpPr>
        <p:spPr>
          <a:xfrm>
            <a:off x="10822575" y="6477000"/>
            <a:ext cx="597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07 / 1</a:t>
            </a:r>
            <a:r>
              <a:rPr lang="en-US" sz="825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9"/>
          <p:cNvSpPr txBox="1"/>
          <p:nvPr/>
        </p:nvSpPr>
        <p:spPr>
          <a:xfrm>
            <a:off x="682672" y="1457538"/>
            <a:ext cx="5665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Concentrazione di Densità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I brani più popolari si raggruppano in modo compatto tra </a:t>
            </a: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0.6 e 0.8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di danceability.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9"/>
          <p:cNvSpPr txBox="1"/>
          <p:nvPr/>
        </p:nvSpPr>
        <p:spPr>
          <a:xfrm>
            <a:off x="6199222" y="1481350"/>
            <a:ext cx="5665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Rifiuto degli Estremi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Valori inferiori a 0.4 riducono la probabilità di successo algoritmico a meno del 5%, escludendo brani eccessivamente destrutturati.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9"/>
          <p:cNvSpPr txBox="1"/>
          <p:nvPr/>
        </p:nvSpPr>
        <p:spPr>
          <a:xfrm>
            <a:off x="444547" y="1409913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9"/>
          <p:cNvSpPr txBox="1"/>
          <p:nvPr/>
        </p:nvSpPr>
        <p:spPr>
          <a:xfrm>
            <a:off x="5961097" y="1433726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8" name="Google Shape;188;p19" title="danc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4550" y="1979400"/>
            <a:ext cx="11501149" cy="437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3" name="Google Shape;19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53175"/>
            <a:ext cx="10648949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0"/>
          <p:cNvSpPr txBox="1"/>
          <p:nvPr/>
        </p:nvSpPr>
        <p:spPr>
          <a:xfrm>
            <a:off x="914400" y="581025"/>
            <a:ext cx="11031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SPEECHINESS: PARLATO SOTTO IL 10%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0"/>
          <p:cNvSpPr/>
          <p:nvPr/>
        </p:nvSpPr>
        <p:spPr>
          <a:xfrm>
            <a:off x="771525" y="581025"/>
            <a:ext cx="47700" cy="3201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0"/>
          <p:cNvSpPr txBox="1"/>
          <p:nvPr/>
        </p:nvSpPr>
        <p:spPr>
          <a:xfrm>
            <a:off x="771525" y="996255"/>
            <a:ext cx="10649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preponderanza della melodia e della parte cantata relega la </a:t>
            </a:r>
            <a:r>
              <a:rPr b="0" i="0" lang="en-US" sz="120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speechiness estrema fuori dalla zona di alta popolarità</a:t>
            </a: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20"/>
          <p:cNvSpPr txBox="1"/>
          <p:nvPr/>
        </p:nvSpPr>
        <p:spPr>
          <a:xfrm>
            <a:off x="771525" y="6477000"/>
            <a:ext cx="28575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20"/>
          <p:cNvSpPr txBox="1"/>
          <p:nvPr/>
        </p:nvSpPr>
        <p:spPr>
          <a:xfrm>
            <a:off x="11077575" y="6477000"/>
            <a:ext cx="5838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08 / 1</a:t>
            </a:r>
            <a:r>
              <a:rPr lang="en-US" sz="825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20"/>
          <p:cNvSpPr txBox="1"/>
          <p:nvPr/>
        </p:nvSpPr>
        <p:spPr>
          <a:xfrm>
            <a:off x="427350" y="1465738"/>
            <a:ext cx="5665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Standard Strumentale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I brani con speechiness superiore a 0.60 subiscono un crollo sistematico della popolarità complessiva.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20"/>
          <p:cNvSpPr txBox="1"/>
          <p:nvPr/>
        </p:nvSpPr>
        <p:spPr>
          <a:xfrm>
            <a:off x="6526200" y="1489550"/>
            <a:ext cx="5665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Identità Acustica Veloce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Il parlato deve essere strettamente complementare alla linea melodica principale e mai dominante (ideale sotto </a:t>
            </a: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0.10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0"/>
          <p:cNvSpPr txBox="1"/>
          <p:nvPr/>
        </p:nvSpPr>
        <p:spPr>
          <a:xfrm>
            <a:off x="189225" y="1418113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0"/>
          <p:cNvSpPr txBox="1"/>
          <p:nvPr/>
        </p:nvSpPr>
        <p:spPr>
          <a:xfrm>
            <a:off x="6288075" y="1441926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3" name="Google Shape;203;p20" title="voc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2725" y="2103650"/>
            <a:ext cx="11537650" cy="4249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8" name="Google Shape;20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1"/>
          <p:cNvSpPr txBox="1"/>
          <p:nvPr/>
        </p:nvSpPr>
        <p:spPr>
          <a:xfrm>
            <a:off x="914400" y="581025"/>
            <a:ext cx="11031378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SUONO: ALTA ENERGIA E LOUDNESS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21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1"/>
          <p:cNvSpPr txBox="1"/>
          <p:nvPr/>
        </p:nvSpPr>
        <p:spPr>
          <a:xfrm>
            <a:off x="771525" y="1041945"/>
            <a:ext cx="10648950" cy="23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L'ascolto moderno in mobilità o in contesti rumorosi premia la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compressione dinamica aggressiva e l'impatto sonoro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21"/>
          <p:cNvSpPr txBox="1"/>
          <p:nvPr/>
        </p:nvSpPr>
        <p:spPr>
          <a:xfrm>
            <a:off x="771525" y="6467475"/>
            <a:ext cx="3057600" cy="1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21"/>
          <p:cNvSpPr txBox="1"/>
          <p:nvPr/>
        </p:nvSpPr>
        <p:spPr>
          <a:xfrm>
            <a:off x="11039475" y="6467475"/>
            <a:ext cx="381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9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1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21"/>
          <p:cNvSpPr txBox="1"/>
          <p:nvPr/>
        </p:nvSpPr>
        <p:spPr>
          <a:xfrm>
            <a:off x="1009650" y="1491238"/>
            <a:ext cx="54585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Compressione Dinamica (Loudness)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Le hit si addensano sistematicamente tra </a:t>
            </a:r>
            <a:r>
              <a:rPr lang="en-US" sz="1350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</a:t>
            </a: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dB e -10 dB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21"/>
          <p:cNvSpPr txBox="1"/>
          <p:nvPr/>
        </p:nvSpPr>
        <p:spPr>
          <a:xfrm>
            <a:off x="6057225" y="1491244"/>
            <a:ext cx="54585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Energia Elevata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Il coefficiente ottimale di stimolo ad alta intensità supera stabilmente il valore critico di </a:t>
            </a: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0.75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21"/>
          <p:cNvSpPr txBox="1"/>
          <p:nvPr/>
        </p:nvSpPr>
        <p:spPr>
          <a:xfrm>
            <a:off x="771525" y="1472188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21"/>
          <p:cNvSpPr txBox="1"/>
          <p:nvPr/>
        </p:nvSpPr>
        <p:spPr>
          <a:xfrm flipH="1">
            <a:off x="5888525" y="1472223"/>
            <a:ext cx="381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21" title="EnergiVolum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1525" y="2156200"/>
            <a:ext cx="11031374" cy="4187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3" name="Google Shape;22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53175"/>
            <a:ext cx="10648949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2"/>
          <p:cNvSpPr txBox="1"/>
          <p:nvPr/>
        </p:nvSpPr>
        <p:spPr>
          <a:xfrm>
            <a:off x="914400" y="581025"/>
            <a:ext cx="11031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VALENCE: EMOZIONI TRASVERSALI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22"/>
          <p:cNvSpPr/>
          <p:nvPr/>
        </p:nvSpPr>
        <p:spPr>
          <a:xfrm>
            <a:off x="771525" y="581025"/>
            <a:ext cx="47700" cy="3201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2"/>
          <p:cNvSpPr txBox="1"/>
          <p:nvPr/>
        </p:nvSpPr>
        <p:spPr>
          <a:xfrm>
            <a:off x="771525" y="996255"/>
            <a:ext cx="10649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popolarità si distribuisce equamente lungo l'intero spettro emotivo, </a:t>
            </a:r>
            <a:r>
              <a:rPr b="0" i="0" lang="en-US" sz="120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senza preferenze tra euforia e malinconia</a:t>
            </a: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2"/>
          <p:cNvSpPr txBox="1"/>
          <p:nvPr/>
        </p:nvSpPr>
        <p:spPr>
          <a:xfrm>
            <a:off x="771525" y="6477000"/>
            <a:ext cx="28575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22"/>
          <p:cNvSpPr txBox="1"/>
          <p:nvPr/>
        </p:nvSpPr>
        <p:spPr>
          <a:xfrm>
            <a:off x="11115675" y="6477000"/>
            <a:ext cx="4320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</a:t>
            </a:r>
            <a:r>
              <a:rPr lang="en-US" sz="825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</a:t>
            </a:r>
            <a:r>
              <a:rPr b="0" i="0" lang="en-US" sz="825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1</a:t>
            </a:r>
            <a:r>
              <a:rPr lang="en-US" sz="825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22"/>
          <p:cNvSpPr txBox="1"/>
          <p:nvPr/>
        </p:nvSpPr>
        <p:spPr>
          <a:xfrm>
            <a:off x="377963" y="1430438"/>
            <a:ext cx="56658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Assenza di Bias Emotivo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Sia tracce malinconiche (basso valence) che inni solari ed energici (alto valence) hanno lo stesso potenziale di posizionamento algoritmico.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22"/>
          <p:cNvSpPr txBox="1"/>
          <p:nvPr/>
        </p:nvSpPr>
        <p:spPr>
          <a:xfrm>
            <a:off x="6386513" y="1454250"/>
            <a:ext cx="56658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Complementarità con l'Energia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Un brano triste (basso valence) può comunque dominare le hit purché mantenga una spiccata energia e un tempo costante.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22"/>
          <p:cNvSpPr txBox="1"/>
          <p:nvPr/>
        </p:nvSpPr>
        <p:spPr>
          <a:xfrm>
            <a:off x="139838" y="1382813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22"/>
          <p:cNvSpPr txBox="1"/>
          <p:nvPr/>
        </p:nvSpPr>
        <p:spPr>
          <a:xfrm>
            <a:off x="6148388" y="1406626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3" name="Google Shape;233;p22" title="valenc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9850" y="2345550"/>
            <a:ext cx="11805851" cy="4007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8" name="Google Shape;23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23"/>
          <p:cNvSpPr txBox="1"/>
          <p:nvPr/>
        </p:nvSpPr>
        <p:spPr>
          <a:xfrm>
            <a:off x="914400" y="581025"/>
            <a:ext cx="11031378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RITMO: PICCO IDEALE A ~120 BPM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23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3"/>
          <p:cNvSpPr txBox="1"/>
          <p:nvPr/>
        </p:nvSpPr>
        <p:spPr>
          <a:xfrm>
            <a:off x="771525" y="1041945"/>
            <a:ext cx="10648950" cy="23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risonanza motoria dell'essere umano e il battito cardiaco medio in movimento determinano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la selezione naturale dei ritmi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23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23"/>
          <p:cNvSpPr txBox="1"/>
          <p:nvPr/>
        </p:nvSpPr>
        <p:spPr>
          <a:xfrm>
            <a:off x="11049000" y="6467475"/>
            <a:ext cx="371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11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1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4" name="Google Shape;244;p23" title="bpm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00475" y="1410175"/>
            <a:ext cx="10889775" cy="4845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9" name="Google Shape;249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49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4"/>
          <p:cNvSpPr txBox="1"/>
          <p:nvPr/>
        </p:nvSpPr>
        <p:spPr>
          <a:xfrm>
            <a:off x="914400" y="581025"/>
            <a:ext cx="11031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ML: TEMPO ED ENERGIA GUIDANO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24"/>
          <p:cNvSpPr/>
          <p:nvPr/>
        </p:nvSpPr>
        <p:spPr>
          <a:xfrm>
            <a:off x="771525" y="581025"/>
            <a:ext cx="47700" cy="3657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4"/>
          <p:cNvSpPr txBox="1"/>
          <p:nvPr/>
        </p:nvSpPr>
        <p:spPr>
          <a:xfrm>
            <a:off x="771525" y="1041945"/>
            <a:ext cx="106491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modellazione statistica predittiva con Random Forest isola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il peso effettivo delle singole feature acustiche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24"/>
          <p:cNvSpPr txBox="1"/>
          <p:nvPr/>
        </p:nvSpPr>
        <p:spPr>
          <a:xfrm>
            <a:off x="771525" y="6467475"/>
            <a:ext cx="30576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24"/>
          <p:cNvSpPr txBox="1"/>
          <p:nvPr/>
        </p:nvSpPr>
        <p:spPr>
          <a:xfrm>
            <a:off x="11039475" y="6467475"/>
            <a:ext cx="381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12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24"/>
          <p:cNvSpPr txBox="1"/>
          <p:nvPr/>
        </p:nvSpPr>
        <p:spPr>
          <a:xfrm>
            <a:off x="7453250" y="5911300"/>
            <a:ext cx="819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METRICA GINI: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56" name="Google Shape;25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43700" y="5817624"/>
            <a:ext cx="1938570" cy="48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24" title="attr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8875" y="1402250"/>
            <a:ext cx="11686825" cy="426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2" name="Google Shape;262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49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5"/>
          <p:cNvSpPr txBox="1"/>
          <p:nvPr/>
        </p:nvSpPr>
        <p:spPr>
          <a:xfrm>
            <a:off x="914400" y="250050"/>
            <a:ext cx="11031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Correlazione Tra le caratteristiche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25"/>
          <p:cNvSpPr/>
          <p:nvPr/>
        </p:nvSpPr>
        <p:spPr>
          <a:xfrm>
            <a:off x="771525" y="250050"/>
            <a:ext cx="47700" cy="3657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5"/>
          <p:cNvSpPr txBox="1"/>
          <p:nvPr/>
        </p:nvSpPr>
        <p:spPr>
          <a:xfrm>
            <a:off x="771525" y="6467475"/>
            <a:ext cx="30576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25"/>
          <p:cNvSpPr txBox="1"/>
          <p:nvPr/>
        </p:nvSpPr>
        <p:spPr>
          <a:xfrm>
            <a:off x="11039475" y="6467475"/>
            <a:ext cx="381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13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1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7" name="Google Shape;26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0102" y="617911"/>
            <a:ext cx="10899013" cy="57984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2" name="Google Shape;27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3" name="Google Shape;273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899171"/>
            <a:ext cx="3359050" cy="2333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4" name="Google Shape;274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16325" y="2899171"/>
            <a:ext cx="3359199" cy="2333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5" name="Google Shape;275;p2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61275" y="2899171"/>
            <a:ext cx="3359050" cy="2333625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26"/>
          <p:cNvSpPr txBox="1"/>
          <p:nvPr/>
        </p:nvSpPr>
        <p:spPr>
          <a:xfrm>
            <a:off x="914400" y="581025"/>
            <a:ext cx="11031378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MANUALE: RICETTA PER LA HIT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26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6"/>
          <p:cNvSpPr txBox="1"/>
          <p:nvPr/>
        </p:nvSpPr>
        <p:spPr>
          <a:xfrm>
            <a:off x="771525" y="1041945"/>
            <a:ext cx="106491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ricetta oggettiva ricavata dall'analisi più di 1</a:t>
            </a:r>
            <a:r>
              <a:rPr lang="en-US" sz="13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00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.000 tracce: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tre regole auree per incrementare le probabilità di posizionamento algoritmico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26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26"/>
          <p:cNvSpPr txBox="1"/>
          <p:nvPr/>
        </p:nvSpPr>
        <p:spPr>
          <a:xfrm>
            <a:off x="11039475" y="6467475"/>
            <a:ext cx="381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14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1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26"/>
          <p:cNvSpPr txBox="1"/>
          <p:nvPr/>
        </p:nvSpPr>
        <p:spPr>
          <a:xfrm>
            <a:off x="1066800" y="3708796"/>
            <a:ext cx="29069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1B24"/>
                </a:solidFill>
                <a:latin typeface="Inter"/>
                <a:ea typeface="Inter"/>
                <a:cs typeface="Inter"/>
                <a:sym typeface="Inter"/>
              </a:rPr>
              <a:t>Sotto i 3.5 Minuti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26"/>
          <p:cNvSpPr txBox="1"/>
          <p:nvPr/>
        </p:nvSpPr>
        <p:spPr>
          <a:xfrm>
            <a:off x="1066800" y="4080271"/>
            <a:ext cx="2768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Massimizza la ritenzione dell'ascolto medio, minimizza l'abbandono precoce (skip-rate) e si adatta perfettamente alle abitudini di fruizione rapida.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26"/>
          <p:cNvSpPr txBox="1"/>
          <p:nvPr/>
        </p:nvSpPr>
        <p:spPr>
          <a:xfrm>
            <a:off x="4711600" y="3708796"/>
            <a:ext cx="290708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1B24"/>
                </a:solidFill>
                <a:latin typeface="Inter"/>
                <a:ea typeface="Inter"/>
                <a:cs typeface="Inter"/>
                <a:sym typeface="Inter"/>
              </a:rPr>
              <a:t>Energia &amp; Loudness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26"/>
          <p:cNvSpPr txBox="1"/>
          <p:nvPr/>
        </p:nvSpPr>
        <p:spPr>
          <a:xfrm>
            <a:off x="4711600" y="4080271"/>
            <a:ext cx="2768649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Progettare arrangiamenti densi ed energici con compressione loudness tra -5dB e -8dB. La timbrica acustica naturale va fortemente limitata.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26"/>
          <p:cNvSpPr txBox="1"/>
          <p:nvPr/>
        </p:nvSpPr>
        <p:spPr>
          <a:xfrm>
            <a:off x="8356550" y="3708796"/>
            <a:ext cx="29069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1B24"/>
                </a:solidFill>
                <a:latin typeface="Inter"/>
                <a:ea typeface="Inter"/>
                <a:cs typeface="Inter"/>
                <a:sym typeface="Inter"/>
              </a:rPr>
              <a:t>Sincronia a ~120 BPM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6"/>
          <p:cNvSpPr txBox="1"/>
          <p:nvPr/>
        </p:nvSpPr>
        <p:spPr>
          <a:xfrm>
            <a:off x="8356550" y="4080271"/>
            <a:ext cx="2768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Agganciare il corpo dell'ascoltatore. La vicinanza al battito cardiaco medio in camminata attiva massimizza l'engagement cinetico spontaneo.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87" name="Google Shape;287;p2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66800" y="3223021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8" name="Google Shape;288;p2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711600" y="3223021"/>
            <a:ext cx="2667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9" name="Google Shape;289;p2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356550" y="3223021"/>
            <a:ext cx="304800" cy="30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4" name="Google Shape;294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Google Shape;295;p27"/>
          <p:cNvSpPr txBox="1"/>
          <p:nvPr/>
        </p:nvSpPr>
        <p:spPr>
          <a:xfrm>
            <a:off x="914400" y="581025"/>
            <a:ext cx="11031378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CONTATTI E APPROFONDIMENTI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27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7"/>
          <p:cNvSpPr txBox="1"/>
          <p:nvPr/>
        </p:nvSpPr>
        <p:spPr>
          <a:xfrm>
            <a:off x="771525" y="1041945"/>
            <a:ext cx="10648950" cy="23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L'ingegnerizzazione del successo converte l'intuizione artistica in una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scienza esatta governata interamente dai dati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27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27"/>
          <p:cNvSpPr txBox="1"/>
          <p:nvPr/>
        </p:nvSpPr>
        <p:spPr>
          <a:xfrm>
            <a:off x="11068050" y="6467475"/>
            <a:ext cx="352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15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1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00" name="Google Shape;300;p27"/>
          <p:cNvGraphicFramePr/>
          <p:nvPr/>
        </p:nvGraphicFramePr>
        <p:xfrm>
          <a:off x="771525" y="27601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{7D6DFDF5-AB1D-409E-A769-499A69F08684}</a:tableStyleId>
              </a:tblPr>
              <a:tblGrid>
                <a:gridCol w="1584575"/>
                <a:gridCol w="3048150"/>
              </a:tblGrid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75"/>
                        <a:buFont typeface="Arial"/>
                        <a:buNone/>
                      </a:pPr>
                      <a:r>
                        <a:rPr b="1" i="0" lang="en-US" sz="975" u="none" cap="none" strike="noStrike">
                          <a:solidFill>
                            <a:srgbClr val="1E1B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Analista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75"/>
                        <a:buFont typeface="Arial"/>
                        <a:buNone/>
                      </a:pPr>
                      <a:r>
                        <a:rPr b="1" i="0" lang="en-US" sz="975" u="none" cap="none" strike="noStrike">
                          <a:solidFill>
                            <a:srgbClr val="1E1B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Email Istituzionale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25"/>
                        <a:buFont typeface="Arial"/>
                        <a:buNone/>
                      </a:pPr>
                      <a:r>
                        <a:rPr b="1" i="0" lang="en-US" sz="1125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Taha Anass Seddik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25"/>
                        <a:buFont typeface="Arial"/>
                        <a:buNone/>
                      </a:pPr>
                      <a:r>
                        <a:rPr b="0" i="0" lang="en-US" sz="1125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tahaanass.seddik@studenti.unimi.it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25"/>
                        <a:buFont typeface="Arial"/>
                        <a:buNone/>
                      </a:pPr>
                      <a:r>
                        <a:rPr b="1" i="0" lang="en-US" sz="1125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Daniele Zmarandache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25"/>
                        <a:buFont typeface="Arial"/>
                        <a:buNone/>
                      </a:pPr>
                      <a:r>
                        <a:rPr b="0" i="0" lang="en-US" sz="1125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daniele.zmarandache@studenti.unimi.it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301" name="Google Shape;301;p27"/>
          <p:cNvSpPr txBox="1"/>
          <p:nvPr/>
        </p:nvSpPr>
        <p:spPr>
          <a:xfrm>
            <a:off x="771525" y="4836616"/>
            <a:ext cx="6612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1" lang="en-US" sz="10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Università degli Studi di Milano — </a:t>
            </a:r>
            <a:r>
              <a:rPr i="1" lang="en-US" sz="10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Informatica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27"/>
          <p:cNvSpPr/>
          <p:nvPr/>
        </p:nvSpPr>
        <p:spPr>
          <a:xfrm>
            <a:off x="771525" y="3174503"/>
            <a:ext cx="15845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7"/>
          <p:cNvSpPr/>
          <p:nvPr/>
        </p:nvSpPr>
        <p:spPr>
          <a:xfrm>
            <a:off x="2356098" y="3174503"/>
            <a:ext cx="19794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7"/>
          <p:cNvSpPr/>
          <p:nvPr/>
        </p:nvSpPr>
        <p:spPr>
          <a:xfrm>
            <a:off x="4335512" y="3174503"/>
            <a:ext cx="30481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7"/>
          <p:cNvSpPr/>
          <p:nvPr/>
        </p:nvSpPr>
        <p:spPr>
          <a:xfrm>
            <a:off x="771525" y="3812678"/>
            <a:ext cx="15845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7"/>
          <p:cNvSpPr/>
          <p:nvPr/>
        </p:nvSpPr>
        <p:spPr>
          <a:xfrm>
            <a:off x="2356098" y="3812678"/>
            <a:ext cx="19794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7"/>
          <p:cNvSpPr/>
          <p:nvPr/>
        </p:nvSpPr>
        <p:spPr>
          <a:xfrm>
            <a:off x="4335512" y="3812678"/>
            <a:ext cx="30481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27"/>
          <p:cNvSpPr/>
          <p:nvPr/>
        </p:nvSpPr>
        <p:spPr>
          <a:xfrm>
            <a:off x="771525" y="4631828"/>
            <a:ext cx="15845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7"/>
          <p:cNvSpPr/>
          <p:nvPr/>
        </p:nvSpPr>
        <p:spPr>
          <a:xfrm>
            <a:off x="2356098" y="4631828"/>
            <a:ext cx="19794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7"/>
          <p:cNvSpPr/>
          <p:nvPr/>
        </p:nvSpPr>
        <p:spPr>
          <a:xfrm>
            <a:off x="4335512" y="4631828"/>
            <a:ext cx="30481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11" name="Google Shape;311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87953" y="2147887"/>
            <a:ext cx="2286000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27"/>
          <p:cNvSpPr txBox="1"/>
          <p:nvPr/>
        </p:nvSpPr>
        <p:spPr>
          <a:xfrm>
            <a:off x="8749903" y="4576762"/>
            <a:ext cx="15621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REPOSITORY CODICE &amp; DATI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13" name="Google Shape;313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40353" y="2300287"/>
            <a:ext cx="1981200" cy="1981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