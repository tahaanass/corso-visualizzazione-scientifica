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y="6858000" cx="12192000"/>
  <p:notesSz cx="6858000" cy="9144000"/>
  <p:embeddedFontLst>
    <p:embeddedFont>
      <p:font typeface="Inter SemiBold"/>
      <p:regular r:id="rId22"/>
      <p:bold r:id="rId23"/>
      <p:italic r:id="rId24"/>
      <p:boldItalic r:id="rId25"/>
    </p:embeddedFont>
    <p:embeddedFont>
      <p:font typeface="Inter"/>
      <p:regular r:id="rId26"/>
      <p:bold r:id="rId27"/>
      <p:italic r:id="rId28"/>
      <p:boldItalic r:id="rId29"/>
    </p:embeddedFont>
    <p:embeddedFont>
      <p:font typeface="Inter ExtraBold"/>
      <p:bold r:id="rId30"/>
      <p:boldItalic r:id="rId3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83E646A-FC96-4DF3-9704-AAC572B8C453}">
  <a:tblStyle styleId="{683E646A-FC96-4DF3-9704-AAC572B8C453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 b="off" i="off"/>
      <a:tcStyle>
        <a:fill>
          <a:solidFill>
            <a:srgbClr val="CFD7E7"/>
          </a:solidFill>
        </a:fill>
      </a:tcStyle>
    </a:band1H>
    <a:band2H>
      <a:tcTxStyle b="off" i="off"/>
    </a:band2H>
    <a:band1V>
      <a:tcTxStyle b="off" i="off"/>
      <a:tcStyle>
        <a:fill>
          <a:solidFill>
            <a:srgbClr val="CFD7E7"/>
          </a:solidFill>
        </a:fill>
      </a:tcStyle>
    </a:band1V>
    <a:band2V>
      <a:tcTxStyle b="off" i="off"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 b="off" i="off"/>
    </a:seCell>
    <a:swCell>
      <a:tcTxStyle b="off" i="off"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 b="off" i="off"/>
    </a:neCell>
    <a:nwCell>
      <a:tcTxStyle b="off" i="off"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font" Target="fonts/InterSemiBold-regular.fntdata"/><Relationship Id="rId21" Type="http://schemas.openxmlformats.org/officeDocument/2006/relationships/slide" Target="slides/slide15.xml"/><Relationship Id="rId24" Type="http://schemas.openxmlformats.org/officeDocument/2006/relationships/font" Target="fonts/InterSemiBold-italic.fntdata"/><Relationship Id="rId23" Type="http://schemas.openxmlformats.org/officeDocument/2006/relationships/font" Target="fonts/InterSemiBold-bold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font" Target="fonts/Inter-regular.fntdata"/><Relationship Id="rId25" Type="http://schemas.openxmlformats.org/officeDocument/2006/relationships/font" Target="fonts/InterSemiBold-boldItalic.fntdata"/><Relationship Id="rId28" Type="http://schemas.openxmlformats.org/officeDocument/2006/relationships/font" Target="fonts/Inter-italic.fntdata"/><Relationship Id="rId27" Type="http://schemas.openxmlformats.org/officeDocument/2006/relationships/font" Target="fonts/Inter-bold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font" Target="fonts/Inter-boldItalic.fntdata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font" Target="fonts/InterExtraBold-boldItalic.fntdata"/><Relationship Id="rId30" Type="http://schemas.openxmlformats.org/officeDocument/2006/relationships/font" Target="fonts/InterExtraBold-bold.fntdata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96" name="Google Shape;96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18" name="Google Shape;118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35" name="Google Shape;135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46" name="Google Shape;146;p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61" name="Google Shape;161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76" name="Google Shape;176;p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91" name="Google Shape;191;p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06" name="Google Shape;206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21" name="Google Shape;221;p1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36" name="Google Shape;236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g3f55a0656d9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47" name="Google Shape;247;g3f55a0656d9_0_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g3f55a0656d9_0_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60" name="Google Shape;260;g3f55a0656d9_0_3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70" name="Google Shape;270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92" name="Google Shape;292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5.png"/><Relationship Id="rId4" Type="http://schemas.openxmlformats.org/officeDocument/2006/relationships/image" Target="../media/image5.png"/><Relationship Id="rId5" Type="http://schemas.openxmlformats.org/officeDocument/2006/relationships/image" Target="../media/image1.png"/><Relationship Id="rId6" Type="http://schemas.openxmlformats.org/officeDocument/2006/relationships/image" Target="../media/image4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8.png"/><Relationship Id="rId5" Type="http://schemas.openxmlformats.org/officeDocument/2006/relationships/image" Target="../media/image3.png"/><Relationship Id="rId6" Type="http://schemas.openxmlformats.org/officeDocument/2006/relationships/image" Target="../media/image11.png"/><Relationship Id="rId7" Type="http://schemas.openxmlformats.org/officeDocument/2006/relationships/image" Target="../media/image10.png"/><Relationship Id="rId8" Type="http://schemas.openxmlformats.org/officeDocument/2006/relationships/image" Target="../media/image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5.png"/><Relationship Id="rId4" Type="http://schemas.openxmlformats.org/officeDocument/2006/relationships/hyperlink" Target="https://huggingface.co/datasets/maharshipandya/spotify-tracks-dataset" TargetMode="External"/><Relationship Id="rId5" Type="http://schemas.openxmlformats.org/officeDocument/2006/relationships/hyperlink" Target="https://huggingface.co/datasets/maharshipandya/spotify-tracks-dataset" TargetMode="External"/><Relationship Id="rId6" Type="http://schemas.openxmlformats.org/officeDocument/2006/relationships/image" Target="../media/image1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5.png"/><Relationship Id="rId4" Type="http://schemas.openxmlformats.org/officeDocument/2006/relationships/image" Target="../media/image2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5.png"/><Relationship Id="rId4" Type="http://schemas.openxmlformats.org/officeDocument/2006/relationships/image" Target="../media/image2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2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Relationship Id="rId4" Type="http://schemas.openxmlformats.org/officeDocument/2006/relationships/image" Target="../media/image1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5.png"/><Relationship Id="rId4" Type="http://schemas.openxmlformats.org/officeDocument/2006/relationships/image" Target="../media/image13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1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5.png"/><Relationship Id="rId4" Type="http://schemas.openxmlformats.org/officeDocument/2006/relationships/image" Target="../media/image20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5.png"/><Relationship Id="rId4" Type="http://schemas.openxmlformats.org/officeDocument/2006/relationships/image" Target="../media/image14.png"/><Relationship Id="rId5" Type="http://schemas.openxmlformats.org/officeDocument/2006/relationships/image" Target="../media/image17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5.png"/><Relationship Id="rId4" Type="http://schemas.openxmlformats.org/officeDocument/2006/relationships/image" Target="../media/image29.png"/><Relationship Id="rId9" Type="http://schemas.openxmlformats.org/officeDocument/2006/relationships/image" Target="../media/image28.png"/><Relationship Id="rId5" Type="http://schemas.openxmlformats.org/officeDocument/2006/relationships/image" Target="../media/image27.png"/><Relationship Id="rId6" Type="http://schemas.openxmlformats.org/officeDocument/2006/relationships/image" Target="../media/image26.png"/><Relationship Id="rId7" Type="http://schemas.openxmlformats.org/officeDocument/2006/relationships/image" Target="../media/image23.png"/><Relationship Id="rId8" Type="http://schemas.openxmlformats.org/officeDocument/2006/relationships/image" Target="../media/image24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5.png"/><Relationship Id="rId4" Type="http://schemas.openxmlformats.org/officeDocument/2006/relationships/image" Target="../media/image1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84" name="Google Shape;84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1525" y="6343650"/>
            <a:ext cx="10648950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85" name="Google Shape;85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71525" y="4317652"/>
            <a:ext cx="6298406" cy="552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86" name="Google Shape;86;p1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387953" y="2147887"/>
            <a:ext cx="2286000" cy="228600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3"/>
          <p:cNvSpPr txBox="1"/>
          <p:nvPr/>
        </p:nvSpPr>
        <p:spPr>
          <a:xfrm>
            <a:off x="771525" y="6467475"/>
            <a:ext cx="3057525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Visualizzazione Scientifica — Progetto Universitario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3"/>
          <p:cNvSpPr txBox="1"/>
          <p:nvPr/>
        </p:nvSpPr>
        <p:spPr>
          <a:xfrm>
            <a:off x="11104685" y="6467475"/>
            <a:ext cx="3525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01 / </a:t>
            </a:r>
            <a:r>
              <a:rPr lang="en-US" sz="900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15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p13"/>
          <p:cNvSpPr txBox="1"/>
          <p:nvPr/>
        </p:nvSpPr>
        <p:spPr>
          <a:xfrm>
            <a:off x="771525" y="1987897"/>
            <a:ext cx="6613326" cy="11391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497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900"/>
              <a:buFont typeface="Arial"/>
              <a:buNone/>
            </a:pPr>
            <a:r>
              <a:rPr b="0" i="0" lang="en-US" sz="3900" u="none" cap="none" strike="noStrike">
                <a:solidFill>
                  <a:srgbClr val="1E1B24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Decodificare il Successo</a:t>
            </a:r>
            <a:br>
              <a:rPr b="0" i="0" lang="en-US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3900" u="none" cap="none" strike="noStrike">
                <a:solidFill>
                  <a:srgbClr val="1E1B24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 su </a:t>
            </a:r>
            <a:r>
              <a:rPr b="0" i="0" lang="en-US" sz="3900" u="none" cap="none" strike="noStrike">
                <a:solidFill>
                  <a:srgbClr val="FF6D00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Spotify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13"/>
          <p:cNvSpPr txBox="1"/>
          <p:nvPr/>
        </p:nvSpPr>
        <p:spPr>
          <a:xfrm>
            <a:off x="771525" y="3317527"/>
            <a:ext cx="6298500" cy="5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Analisi statistica e visualizzazione scientifica di più di 100.000 brani per identificare l'identità acustica delle hit di successo.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13"/>
          <p:cNvSpPr txBox="1"/>
          <p:nvPr/>
        </p:nvSpPr>
        <p:spPr>
          <a:xfrm>
            <a:off x="8749903" y="4576762"/>
            <a:ext cx="1562100" cy="133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64748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REPOSITORY CODICE &amp; DATI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13"/>
          <p:cNvSpPr txBox="1"/>
          <p:nvPr/>
        </p:nvSpPr>
        <p:spPr>
          <a:xfrm>
            <a:off x="771525" y="4559127"/>
            <a:ext cx="2162100" cy="51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Team di Analisi</a:t>
            </a:r>
            <a:endParaRPr b="0" i="0" sz="1125" u="none" cap="none" strike="noStrike">
              <a:solidFill>
                <a:srgbClr val="64748B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b="0" i="0" lang="en-US" sz="1125" u="none" cap="none" strike="noStrike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T</a:t>
            </a:r>
            <a:r>
              <a:rPr lang="en-US" sz="1125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aha</a:t>
            </a:r>
            <a:r>
              <a:rPr b="0" i="0" lang="en-US" sz="1125" u="none" cap="none" strike="noStrike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A</a:t>
            </a:r>
            <a:r>
              <a:rPr lang="en-US" sz="1125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nass</a:t>
            </a:r>
            <a:r>
              <a:rPr b="0" i="0" lang="en-US" sz="1125" u="none" cap="none" strike="noStrike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Seddik &amp;</a:t>
            </a:r>
            <a:endParaRPr b="0" i="0" sz="1125" u="none" cap="none" strike="noStrike">
              <a:solidFill>
                <a:srgbClr val="1E1B24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D</a:t>
            </a:r>
            <a:r>
              <a:rPr lang="en-US" sz="1125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aniele</a:t>
            </a:r>
            <a:r>
              <a:rPr b="0" i="0" lang="en-US" sz="1125" u="none" cap="none" strike="noStrike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Zmarandache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3" name="Google Shape;93;p13" title="qrcode_github.com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8609401" y="2318075"/>
            <a:ext cx="1843088" cy="18430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98" name="Google Shape;98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1525" y="6343650"/>
            <a:ext cx="10648950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9" name="Google Shape;99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71525" y="2779216"/>
            <a:ext cx="3359050" cy="23336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0" name="Google Shape;100;p1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416325" y="2779216"/>
            <a:ext cx="3359199" cy="23336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1" name="Google Shape;101;p1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061275" y="2779216"/>
            <a:ext cx="3359050" cy="2333625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4"/>
          <p:cNvSpPr txBox="1"/>
          <p:nvPr/>
        </p:nvSpPr>
        <p:spPr>
          <a:xfrm>
            <a:off x="914400" y="581025"/>
            <a:ext cx="11031378" cy="3656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1E1B24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OBIETTIVI: AMPLIFICARE LA COGNIZIONE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p14"/>
          <p:cNvSpPr/>
          <p:nvPr/>
        </p:nvSpPr>
        <p:spPr>
          <a:xfrm>
            <a:off x="771525" y="581025"/>
            <a:ext cx="47625" cy="365670"/>
          </a:xfrm>
          <a:prstGeom prst="rect">
            <a:avLst/>
          </a:prstGeom>
          <a:solidFill>
            <a:srgbClr val="FF6D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14"/>
          <p:cNvSpPr txBox="1"/>
          <p:nvPr/>
        </p:nvSpPr>
        <p:spPr>
          <a:xfrm>
            <a:off x="771525" y="1041945"/>
            <a:ext cx="10648950" cy="2399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La visualizzazione dei dati di Spotify non deve decorare, ma </a:t>
            </a:r>
            <a:r>
              <a:rPr b="0" i="0" lang="en-US" sz="1350" u="none" cap="none" strike="noStrike">
                <a:solidFill>
                  <a:srgbClr val="FF6D0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mostrare confronti, causalità ed evidenze strutturate</a:t>
            </a:r>
            <a:r>
              <a:rPr b="0" i="0" lang="en-US" sz="13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14"/>
          <p:cNvSpPr txBox="1"/>
          <p:nvPr/>
        </p:nvSpPr>
        <p:spPr>
          <a:xfrm>
            <a:off x="771525" y="6467475"/>
            <a:ext cx="3057525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Visualizzazione Scientifica — Progetto Universitario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" name="Google Shape;106;p14"/>
          <p:cNvSpPr txBox="1"/>
          <p:nvPr/>
        </p:nvSpPr>
        <p:spPr>
          <a:xfrm>
            <a:off x="11049000" y="6467475"/>
            <a:ext cx="3714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02 /</a:t>
            </a:r>
            <a:r>
              <a:rPr lang="en-US" sz="900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15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1066800" y="3588841"/>
            <a:ext cx="2906925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E1B24"/>
                </a:solidFill>
                <a:latin typeface="Inter"/>
                <a:ea typeface="Inter"/>
                <a:cs typeface="Inter"/>
                <a:sym typeface="Inter"/>
              </a:rPr>
              <a:t>Approccio Analitico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14"/>
          <p:cNvSpPr txBox="1"/>
          <p:nvPr/>
        </p:nvSpPr>
        <p:spPr>
          <a:xfrm>
            <a:off x="1066800" y="3960316"/>
            <a:ext cx="2768400" cy="95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Estrarre pattern audio da un campione massivo di 100k tracce per mappare le combinazioni acustiche preferite dal pubblico.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" name="Google Shape;109;p14"/>
          <p:cNvSpPr txBox="1"/>
          <p:nvPr/>
        </p:nvSpPr>
        <p:spPr>
          <a:xfrm>
            <a:off x="4711600" y="3588841"/>
            <a:ext cx="2907082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E1B24"/>
                </a:solidFill>
                <a:latin typeface="Inter"/>
                <a:ea typeface="Inter"/>
                <a:cs typeface="Inter"/>
                <a:sym typeface="Inter"/>
              </a:rPr>
              <a:t>Rigore Scientifico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p14"/>
          <p:cNvSpPr txBox="1"/>
          <p:nvPr/>
        </p:nvSpPr>
        <p:spPr>
          <a:xfrm>
            <a:off x="4711600" y="3960316"/>
            <a:ext cx="2768649" cy="6429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Applicare i teoremi di Tufte riducendo il rumore visivo al minimo ed integrando testo descrittivo e dati puri.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p14"/>
          <p:cNvSpPr txBox="1"/>
          <p:nvPr/>
        </p:nvSpPr>
        <p:spPr>
          <a:xfrm>
            <a:off x="8356550" y="3588841"/>
            <a:ext cx="2906925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E1B24"/>
                </a:solidFill>
                <a:latin typeface="Inter"/>
                <a:ea typeface="Inter"/>
                <a:cs typeface="Inter"/>
                <a:sym typeface="Inter"/>
              </a:rPr>
              <a:t>Guida Strategica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" name="Google Shape;112;p14"/>
          <p:cNvSpPr txBox="1"/>
          <p:nvPr/>
        </p:nvSpPr>
        <p:spPr>
          <a:xfrm>
            <a:off x="8356550" y="3960316"/>
            <a:ext cx="27685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Convertire i risultati complessi in raccomandazioni pratiche ed ingegneristiche dedicate ad artisti indipendenti ed emergenti.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113" name="Google Shape;113;p1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066800" y="3103066"/>
            <a:ext cx="3048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4" name="Google Shape;114;p14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711600" y="3103066"/>
            <a:ext cx="3048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5" name="Google Shape;115;p14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8356550" y="3103066"/>
            <a:ext cx="304800" cy="30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20" name="Google Shape;120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1525" y="6343650"/>
            <a:ext cx="10648950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15"/>
          <p:cNvSpPr txBox="1"/>
          <p:nvPr/>
        </p:nvSpPr>
        <p:spPr>
          <a:xfrm>
            <a:off x="428775" y="357525"/>
            <a:ext cx="4134000" cy="81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1E1B24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METODO: </a:t>
            </a:r>
            <a:endParaRPr b="0" i="0" sz="2400" u="none" cap="none" strike="noStrike">
              <a:solidFill>
                <a:srgbClr val="1E1B24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  <a:p>
            <a:pPr indent="0" lvl="0" marL="0" marR="0" rtl="0" algn="l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1E1B24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ANALISI SU 1</a:t>
            </a:r>
            <a:r>
              <a:rPr lang="en-US" sz="2400">
                <a:solidFill>
                  <a:srgbClr val="1E1B24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00</a:t>
            </a:r>
            <a:r>
              <a:rPr b="0" i="0" lang="en-US" sz="2400" u="none" cap="none" strike="noStrike">
                <a:solidFill>
                  <a:srgbClr val="1E1B24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K TRACCE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Google Shape;122;p15"/>
          <p:cNvSpPr/>
          <p:nvPr/>
        </p:nvSpPr>
        <p:spPr>
          <a:xfrm>
            <a:off x="295275" y="581025"/>
            <a:ext cx="47700" cy="365700"/>
          </a:xfrm>
          <a:prstGeom prst="rect">
            <a:avLst/>
          </a:prstGeom>
          <a:solidFill>
            <a:srgbClr val="FF6D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15"/>
          <p:cNvSpPr txBox="1"/>
          <p:nvPr/>
        </p:nvSpPr>
        <p:spPr>
          <a:xfrm>
            <a:off x="295275" y="1303775"/>
            <a:ext cx="50517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Integrazione di estrazione API, pulizia dei dati e modellazione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15"/>
          <p:cNvSpPr txBox="1"/>
          <p:nvPr/>
        </p:nvSpPr>
        <p:spPr>
          <a:xfrm>
            <a:off x="771525" y="6467475"/>
            <a:ext cx="3057525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Visualizzazione Scientifica — Progetto Universitario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p15"/>
          <p:cNvSpPr txBox="1"/>
          <p:nvPr/>
        </p:nvSpPr>
        <p:spPr>
          <a:xfrm>
            <a:off x="11039475" y="6467475"/>
            <a:ext cx="5367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03 / </a:t>
            </a:r>
            <a:r>
              <a:rPr lang="en-US" sz="900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15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15"/>
          <p:cNvSpPr txBox="1"/>
          <p:nvPr/>
        </p:nvSpPr>
        <p:spPr>
          <a:xfrm>
            <a:off x="533400" y="2467867"/>
            <a:ext cx="5458500" cy="548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Estrazione API</a:t>
            </a:r>
            <a:r>
              <a:rPr b="0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: più di 1</a:t>
            </a:r>
            <a:r>
              <a:rPr lang="en-US" sz="135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00</a:t>
            </a:r>
            <a:r>
              <a:rPr b="0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.000 tracce musicali </a:t>
            </a:r>
            <a:r>
              <a:rPr lang="en-US" sz="135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estratte </a:t>
            </a:r>
            <a:endParaRPr sz="1350">
              <a:solidFill>
                <a:srgbClr val="334155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dai database di Spotify (tramite </a:t>
            </a:r>
            <a:r>
              <a:rPr lang="en-US" sz="1350" u="sng">
                <a:solidFill>
                  <a:schemeClr val="hlink"/>
                </a:solidFill>
                <a:latin typeface="Inter"/>
                <a:ea typeface="Inter"/>
                <a:cs typeface="Inter"/>
                <a:sym typeface="Inter"/>
                <a:hlinkClick r:id="rId4"/>
              </a:rPr>
              <a:t>huggin</a:t>
            </a:r>
            <a:r>
              <a:rPr lang="en-US" u="sng">
                <a:solidFill>
                  <a:schemeClr val="hlink"/>
                </a:solidFill>
                <a:hlinkClick r:id="rId5"/>
              </a:rPr>
              <a:t>face</a:t>
            </a:r>
            <a:r>
              <a:rPr b="0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Google Shape;127;p15"/>
          <p:cNvSpPr txBox="1"/>
          <p:nvPr/>
        </p:nvSpPr>
        <p:spPr>
          <a:xfrm>
            <a:off x="533400" y="3206948"/>
            <a:ext cx="54585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Standardizzazione Dati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" name="Google Shape;128;p15"/>
          <p:cNvSpPr txBox="1"/>
          <p:nvPr/>
        </p:nvSpPr>
        <p:spPr>
          <a:xfrm>
            <a:off x="533400" y="3681478"/>
            <a:ext cx="5458500" cy="54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Pipeline di Calcolo</a:t>
            </a:r>
            <a:r>
              <a:rPr b="0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: Elaborazione statistica e data cleaning sviluppata interamente in ambiente </a:t>
            </a:r>
            <a:r>
              <a:rPr b="0" i="0" lang="en-US" sz="1350" u="none" cap="none" strike="noStrike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Python</a:t>
            </a:r>
            <a:r>
              <a:rPr b="0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" name="Google Shape;129;p15"/>
          <p:cNvSpPr txBox="1"/>
          <p:nvPr/>
        </p:nvSpPr>
        <p:spPr>
          <a:xfrm>
            <a:off x="295275" y="2448817"/>
            <a:ext cx="1335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FF6D00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15"/>
          <p:cNvSpPr txBox="1"/>
          <p:nvPr/>
        </p:nvSpPr>
        <p:spPr>
          <a:xfrm>
            <a:off x="295275" y="3187898"/>
            <a:ext cx="1335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FF6D00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15"/>
          <p:cNvSpPr txBox="1"/>
          <p:nvPr/>
        </p:nvSpPr>
        <p:spPr>
          <a:xfrm>
            <a:off x="295275" y="3662428"/>
            <a:ext cx="1335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FF6D00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2" name="Google Shape;132;p15" title="distribution.png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346975" y="0"/>
            <a:ext cx="6845024" cy="64674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37" name="Google Shape;137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1525" y="6343650"/>
            <a:ext cx="10648950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16"/>
          <p:cNvSpPr txBox="1"/>
          <p:nvPr/>
        </p:nvSpPr>
        <p:spPr>
          <a:xfrm>
            <a:off x="914400" y="581025"/>
            <a:ext cx="110313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rgbClr val="1E1B24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I 15 generi più popolari : il dominio del mondo Pop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Google Shape;139;p16"/>
          <p:cNvSpPr/>
          <p:nvPr/>
        </p:nvSpPr>
        <p:spPr>
          <a:xfrm>
            <a:off x="771525" y="581025"/>
            <a:ext cx="47625" cy="365670"/>
          </a:xfrm>
          <a:prstGeom prst="rect">
            <a:avLst/>
          </a:prstGeom>
          <a:solidFill>
            <a:srgbClr val="FF6D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16"/>
          <p:cNvSpPr txBox="1"/>
          <p:nvPr/>
        </p:nvSpPr>
        <p:spPr>
          <a:xfrm>
            <a:off x="771525" y="1041945"/>
            <a:ext cx="10648950" cy="2399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L'analisi di genere mostra una gerarchia rigida: </a:t>
            </a:r>
            <a:r>
              <a:rPr b="0" i="0" lang="en-US" sz="1350" u="none" cap="none" strike="noStrike">
                <a:solidFill>
                  <a:srgbClr val="FF6D0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la musica pop detiene il monopolio della popolarità di vertice</a:t>
            </a:r>
            <a:r>
              <a:rPr b="0" i="0" lang="en-US" sz="13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1" name="Google Shape;141;p16"/>
          <p:cNvSpPr txBox="1"/>
          <p:nvPr/>
        </p:nvSpPr>
        <p:spPr>
          <a:xfrm>
            <a:off x="771525" y="6467475"/>
            <a:ext cx="3057525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Visualizzazione Scientifica — Progetto Universitario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" name="Google Shape;142;p16"/>
          <p:cNvSpPr txBox="1"/>
          <p:nvPr/>
        </p:nvSpPr>
        <p:spPr>
          <a:xfrm>
            <a:off x="11039475" y="6467475"/>
            <a:ext cx="3810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04 / </a:t>
            </a:r>
            <a:r>
              <a:rPr lang="en-US" sz="900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15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3" name="Google Shape;143;p16" title="topsong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434250"/>
            <a:ext cx="11921625" cy="4909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48" name="Google Shape;148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1525" y="6353175"/>
            <a:ext cx="10648949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17"/>
          <p:cNvSpPr txBox="1"/>
          <p:nvPr/>
        </p:nvSpPr>
        <p:spPr>
          <a:xfrm>
            <a:off x="914400" y="581025"/>
            <a:ext cx="110313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0" i="0" lang="en-US" sz="2100" u="none" cap="none" strike="noStrike">
                <a:solidFill>
                  <a:srgbClr val="1E1B24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TESTO: LE HIT ESCLUDONO </a:t>
            </a:r>
            <a:r>
              <a:rPr lang="en-US" sz="2100">
                <a:solidFill>
                  <a:srgbClr val="1E1B24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EXPLICIT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0" name="Google Shape;150;p17"/>
          <p:cNvSpPr/>
          <p:nvPr/>
        </p:nvSpPr>
        <p:spPr>
          <a:xfrm>
            <a:off x="771525" y="581025"/>
            <a:ext cx="47700" cy="320100"/>
          </a:xfrm>
          <a:prstGeom prst="rect">
            <a:avLst/>
          </a:prstGeom>
          <a:solidFill>
            <a:srgbClr val="FF6D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17"/>
          <p:cNvSpPr txBox="1"/>
          <p:nvPr/>
        </p:nvSpPr>
        <p:spPr>
          <a:xfrm>
            <a:off x="771525" y="996255"/>
            <a:ext cx="106491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Solo l'</a:t>
            </a:r>
            <a:r>
              <a:rPr b="0" i="0" lang="en-US" sz="1200" u="none" cap="none" strike="noStrike">
                <a:solidFill>
                  <a:srgbClr val="FF6D0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8.62%</a:t>
            </a:r>
            <a:r>
              <a:rPr b="0" i="0" lang="en-US" sz="120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 dei brani analizzati contiene linguaggio esplicito, evidenziando una massiccia preferenza per contenuti radio-safe.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p17"/>
          <p:cNvSpPr txBox="1"/>
          <p:nvPr/>
        </p:nvSpPr>
        <p:spPr>
          <a:xfrm>
            <a:off x="771525" y="6477000"/>
            <a:ext cx="2857500" cy="12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Visualizzazione Scientifica — Progetto Universitario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17"/>
          <p:cNvSpPr txBox="1"/>
          <p:nvPr/>
        </p:nvSpPr>
        <p:spPr>
          <a:xfrm>
            <a:off x="11077575" y="6477000"/>
            <a:ext cx="342900" cy="12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05 / 1</a:t>
            </a:r>
            <a:r>
              <a:rPr lang="en-US" sz="825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" name="Google Shape;154;p17"/>
          <p:cNvSpPr txBox="1"/>
          <p:nvPr/>
        </p:nvSpPr>
        <p:spPr>
          <a:xfrm>
            <a:off x="1009650" y="1581138"/>
            <a:ext cx="48960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Fattore di Accessibilità</a:t>
            </a:r>
            <a:r>
              <a:rPr b="0" i="0" lang="en-US" sz="12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: Brani non espliciti (91.4%) garantiscono la massima diffusione radiofonica e l'inserimento in playlist algoritmiche pubbliche.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17"/>
          <p:cNvSpPr txBox="1"/>
          <p:nvPr/>
        </p:nvSpPr>
        <p:spPr>
          <a:xfrm>
            <a:off x="6397675" y="1628763"/>
            <a:ext cx="48960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Impatto sulla Popolarità</a:t>
            </a:r>
            <a:r>
              <a:rPr b="0" i="0" lang="en-US" sz="12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: Sebbene la presenza di contenuto esplicito non riduca la mediana della popolarità, limita drasticamente il volume complessivo di ascolto cumulativo.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17"/>
          <p:cNvSpPr txBox="1"/>
          <p:nvPr/>
        </p:nvSpPr>
        <p:spPr>
          <a:xfrm>
            <a:off x="771525" y="1533513"/>
            <a:ext cx="1335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FF6D00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" name="Google Shape;157;p17"/>
          <p:cNvSpPr txBox="1"/>
          <p:nvPr/>
        </p:nvSpPr>
        <p:spPr>
          <a:xfrm>
            <a:off x="6159550" y="1581138"/>
            <a:ext cx="1335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FF6D00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8" name="Google Shape;158;p17" title="violin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19225" y="2593926"/>
            <a:ext cx="10827899" cy="3759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63" name="Google Shape;163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1525" y="6343650"/>
            <a:ext cx="10648950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18"/>
          <p:cNvSpPr txBox="1"/>
          <p:nvPr/>
        </p:nvSpPr>
        <p:spPr>
          <a:xfrm>
            <a:off x="914400" y="581025"/>
            <a:ext cx="11031378" cy="3656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1E1B24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DURATA: HIT SOTTO I 3.5 MINUTI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p18"/>
          <p:cNvSpPr/>
          <p:nvPr/>
        </p:nvSpPr>
        <p:spPr>
          <a:xfrm>
            <a:off x="771525" y="581025"/>
            <a:ext cx="47625" cy="365670"/>
          </a:xfrm>
          <a:prstGeom prst="rect">
            <a:avLst/>
          </a:prstGeom>
          <a:solidFill>
            <a:srgbClr val="FF6D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18"/>
          <p:cNvSpPr txBox="1"/>
          <p:nvPr/>
        </p:nvSpPr>
        <p:spPr>
          <a:xfrm>
            <a:off x="771525" y="1041945"/>
            <a:ext cx="10648950" cy="2399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La saturazione della working memory e il crollo dell'attenzione favoriscono </a:t>
            </a:r>
            <a:r>
              <a:rPr b="0" i="0" lang="en-US" sz="1350" u="none" cap="none" strike="noStrike">
                <a:solidFill>
                  <a:srgbClr val="FF6D0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brani brevi con strutture ad alto impatto</a:t>
            </a:r>
            <a:r>
              <a:rPr b="0" i="0" lang="en-US" sz="13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Google Shape;167;p18"/>
          <p:cNvSpPr txBox="1"/>
          <p:nvPr/>
        </p:nvSpPr>
        <p:spPr>
          <a:xfrm>
            <a:off x="771525" y="6467475"/>
            <a:ext cx="3057525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Visualizzazione Scientifica — Progetto Universitario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" name="Google Shape;168;p18"/>
          <p:cNvSpPr txBox="1"/>
          <p:nvPr/>
        </p:nvSpPr>
        <p:spPr>
          <a:xfrm>
            <a:off x="11049000" y="6467475"/>
            <a:ext cx="3714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06</a:t>
            </a:r>
            <a:r>
              <a:rPr b="0" i="0" lang="en-US" sz="900" u="none" cap="none" strike="noStrike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/ 1</a:t>
            </a:r>
            <a:r>
              <a:rPr lang="en-US" sz="900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Google Shape;169;p18"/>
          <p:cNvSpPr txBox="1"/>
          <p:nvPr/>
        </p:nvSpPr>
        <p:spPr>
          <a:xfrm>
            <a:off x="579222" y="5393925"/>
            <a:ext cx="4400400" cy="8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Contrazione Temporale</a:t>
            </a:r>
            <a:r>
              <a:rPr b="0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: Le hit moderne hanno ridotto la loro estensione di oltre 45 secondi nell'ultimo decennio.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" name="Google Shape;170;p18"/>
          <p:cNvSpPr txBox="1"/>
          <p:nvPr/>
        </p:nvSpPr>
        <p:spPr>
          <a:xfrm>
            <a:off x="8142387" y="5393916"/>
            <a:ext cx="3576600" cy="8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Fattore Skip-Rate</a:t>
            </a:r>
            <a:r>
              <a:rPr b="0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: Spotify penalizza i brani non completati; durate minori assicurano tassi di completamento più elevati.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" name="Google Shape;171;p18"/>
          <p:cNvSpPr txBox="1"/>
          <p:nvPr/>
        </p:nvSpPr>
        <p:spPr>
          <a:xfrm>
            <a:off x="7605712" y="2913608"/>
            <a:ext cx="133350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FF6D00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" name="Google Shape;172;p18"/>
          <p:cNvSpPr txBox="1"/>
          <p:nvPr/>
        </p:nvSpPr>
        <p:spPr>
          <a:xfrm>
            <a:off x="7605712" y="3926978"/>
            <a:ext cx="133350" cy="3619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FF6D00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3" name="Google Shape;173;p18" title="duration.pn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5600" y="1377100"/>
            <a:ext cx="11820176" cy="38159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78" name="Google Shape;178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1525" y="6353175"/>
            <a:ext cx="10648949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19"/>
          <p:cNvSpPr txBox="1"/>
          <p:nvPr/>
        </p:nvSpPr>
        <p:spPr>
          <a:xfrm>
            <a:off x="914400" y="581025"/>
            <a:ext cx="110313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0" i="0" lang="en-US" sz="2100" u="none" cap="none" strike="noStrike">
                <a:solidFill>
                  <a:srgbClr val="1E1B24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ATTENZIONE: DANCEABILITY OTTIMIZZATA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19"/>
          <p:cNvSpPr/>
          <p:nvPr/>
        </p:nvSpPr>
        <p:spPr>
          <a:xfrm>
            <a:off x="771525" y="581025"/>
            <a:ext cx="47700" cy="320100"/>
          </a:xfrm>
          <a:prstGeom prst="rect">
            <a:avLst/>
          </a:prstGeom>
          <a:solidFill>
            <a:srgbClr val="FF6D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19"/>
          <p:cNvSpPr txBox="1"/>
          <p:nvPr/>
        </p:nvSpPr>
        <p:spPr>
          <a:xfrm>
            <a:off x="771525" y="996255"/>
            <a:ext cx="106491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La correlazione positiva dimostra come la ballabilità sia un </a:t>
            </a:r>
            <a:r>
              <a:rPr b="0" i="0" lang="en-US" sz="1200" u="none" cap="none" strike="noStrike">
                <a:solidFill>
                  <a:srgbClr val="FF6D0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requisito fondamentale per agganciare le playlist di vertice</a:t>
            </a:r>
            <a:r>
              <a:rPr b="0" i="0" lang="en-US" sz="120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" name="Google Shape;182;p19"/>
          <p:cNvSpPr txBox="1"/>
          <p:nvPr/>
        </p:nvSpPr>
        <p:spPr>
          <a:xfrm>
            <a:off x="771525" y="6477000"/>
            <a:ext cx="2857500" cy="12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Visualizzazione Scientifica — Progetto Universitario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p19"/>
          <p:cNvSpPr txBox="1"/>
          <p:nvPr/>
        </p:nvSpPr>
        <p:spPr>
          <a:xfrm>
            <a:off x="10822575" y="6477000"/>
            <a:ext cx="597900" cy="12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07 / 1</a:t>
            </a:r>
            <a:r>
              <a:rPr lang="en-US" sz="825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" name="Google Shape;184;p19"/>
          <p:cNvSpPr txBox="1"/>
          <p:nvPr/>
        </p:nvSpPr>
        <p:spPr>
          <a:xfrm>
            <a:off x="682672" y="1457538"/>
            <a:ext cx="5665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Concentrazione di Densità</a:t>
            </a:r>
            <a:r>
              <a:rPr b="0" i="0" lang="en-US" sz="12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: I brani più popolari si raggruppano in modo compatto tra </a:t>
            </a:r>
            <a:r>
              <a:rPr b="0" i="0" lang="en-US" sz="1200" u="none" cap="none" strike="noStrike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0.6 e 0.8</a:t>
            </a:r>
            <a:r>
              <a:rPr b="0" i="0" lang="en-US" sz="12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di danceability.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5" name="Google Shape;185;p19"/>
          <p:cNvSpPr txBox="1"/>
          <p:nvPr/>
        </p:nvSpPr>
        <p:spPr>
          <a:xfrm>
            <a:off x="6199222" y="1481350"/>
            <a:ext cx="5665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Rifiuto degli Estremi</a:t>
            </a:r>
            <a:r>
              <a:rPr b="0" i="0" lang="en-US" sz="12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: Valori inferiori a 0.4 riducono la probabilità di successo algoritmico a meno del 5%, escludendo brani eccessivamente destrutturati.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Google Shape;186;p19"/>
          <p:cNvSpPr txBox="1"/>
          <p:nvPr/>
        </p:nvSpPr>
        <p:spPr>
          <a:xfrm>
            <a:off x="444547" y="1409913"/>
            <a:ext cx="1335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FF6D00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" name="Google Shape;187;p19"/>
          <p:cNvSpPr txBox="1"/>
          <p:nvPr/>
        </p:nvSpPr>
        <p:spPr>
          <a:xfrm>
            <a:off x="5961097" y="1433726"/>
            <a:ext cx="1335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FF6D00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88" name="Google Shape;188;p19" title="dance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44550" y="1979400"/>
            <a:ext cx="11501149" cy="4373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93" name="Google Shape;193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1525" y="6353175"/>
            <a:ext cx="10648949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20"/>
          <p:cNvSpPr txBox="1"/>
          <p:nvPr/>
        </p:nvSpPr>
        <p:spPr>
          <a:xfrm>
            <a:off x="914400" y="581025"/>
            <a:ext cx="110313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0" i="0" lang="en-US" sz="2100" u="none" cap="none" strike="noStrike">
                <a:solidFill>
                  <a:srgbClr val="1E1B24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SPEECHINESS: PARLATO SOTTO IL 10%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0"/>
          <p:cNvSpPr/>
          <p:nvPr/>
        </p:nvSpPr>
        <p:spPr>
          <a:xfrm>
            <a:off x="771525" y="581025"/>
            <a:ext cx="47700" cy="320100"/>
          </a:xfrm>
          <a:prstGeom prst="rect">
            <a:avLst/>
          </a:prstGeom>
          <a:solidFill>
            <a:srgbClr val="FF6D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20"/>
          <p:cNvSpPr txBox="1"/>
          <p:nvPr/>
        </p:nvSpPr>
        <p:spPr>
          <a:xfrm>
            <a:off x="771525" y="996255"/>
            <a:ext cx="106491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La preponderanza della melodia e della parte cantata relega la </a:t>
            </a:r>
            <a:r>
              <a:rPr b="0" i="0" lang="en-US" sz="1200" u="none" cap="none" strike="noStrike">
                <a:solidFill>
                  <a:srgbClr val="FF6D0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speechiness estrema fuori dalla zona di alta popolarità</a:t>
            </a:r>
            <a:r>
              <a:rPr b="0" i="0" lang="en-US" sz="120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20"/>
          <p:cNvSpPr txBox="1"/>
          <p:nvPr/>
        </p:nvSpPr>
        <p:spPr>
          <a:xfrm>
            <a:off x="771525" y="6477000"/>
            <a:ext cx="2857500" cy="12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Visualizzazione Scientifica — Progetto Universitario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8" name="Google Shape;198;p20"/>
          <p:cNvSpPr txBox="1"/>
          <p:nvPr/>
        </p:nvSpPr>
        <p:spPr>
          <a:xfrm>
            <a:off x="11077575" y="6477000"/>
            <a:ext cx="583800" cy="12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08 / 1</a:t>
            </a:r>
            <a:r>
              <a:rPr lang="en-US" sz="825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Google Shape;199;p20"/>
          <p:cNvSpPr txBox="1"/>
          <p:nvPr/>
        </p:nvSpPr>
        <p:spPr>
          <a:xfrm>
            <a:off x="427350" y="1465738"/>
            <a:ext cx="5665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Standard Strumentale</a:t>
            </a:r>
            <a:r>
              <a:rPr b="0" i="0" lang="en-US" sz="12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: I brani con speechiness superiore a 0.60 subiscono un crollo sistematico della popolarità complessiva.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20"/>
          <p:cNvSpPr txBox="1"/>
          <p:nvPr/>
        </p:nvSpPr>
        <p:spPr>
          <a:xfrm>
            <a:off x="6526200" y="1489550"/>
            <a:ext cx="5665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Identità Acustica Veloce</a:t>
            </a:r>
            <a:r>
              <a:rPr b="0" i="0" lang="en-US" sz="12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: Il parlato deve essere strettamente complementare alla linea melodica principale e mai dominante (ideale sotto </a:t>
            </a:r>
            <a:r>
              <a:rPr b="0" i="0" lang="en-US" sz="1200" u="none" cap="none" strike="noStrike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0.10</a:t>
            </a:r>
            <a:r>
              <a:rPr b="0" i="0" lang="en-US" sz="12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).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0"/>
          <p:cNvSpPr txBox="1"/>
          <p:nvPr/>
        </p:nvSpPr>
        <p:spPr>
          <a:xfrm>
            <a:off x="189225" y="1418113"/>
            <a:ext cx="1335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FF6D00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" name="Google Shape;202;p20"/>
          <p:cNvSpPr txBox="1"/>
          <p:nvPr/>
        </p:nvSpPr>
        <p:spPr>
          <a:xfrm>
            <a:off x="6288075" y="1441926"/>
            <a:ext cx="1335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FF6D00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3" name="Google Shape;203;p20" title="voce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22725" y="2103650"/>
            <a:ext cx="11537650" cy="42495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08" name="Google Shape;208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1525" y="6343650"/>
            <a:ext cx="10648950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21"/>
          <p:cNvSpPr txBox="1"/>
          <p:nvPr/>
        </p:nvSpPr>
        <p:spPr>
          <a:xfrm>
            <a:off x="914400" y="581025"/>
            <a:ext cx="11031378" cy="3656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1E1B24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SUONO: ALTA ENERGIA E LOUDNESS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21"/>
          <p:cNvSpPr/>
          <p:nvPr/>
        </p:nvSpPr>
        <p:spPr>
          <a:xfrm>
            <a:off x="771525" y="581025"/>
            <a:ext cx="47625" cy="365670"/>
          </a:xfrm>
          <a:prstGeom prst="rect">
            <a:avLst/>
          </a:prstGeom>
          <a:solidFill>
            <a:srgbClr val="FF6D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21"/>
          <p:cNvSpPr txBox="1"/>
          <p:nvPr/>
        </p:nvSpPr>
        <p:spPr>
          <a:xfrm>
            <a:off x="771525" y="1041945"/>
            <a:ext cx="10648950" cy="2399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L'ascolto moderno in mobilità o in contesti rumorosi premia la </a:t>
            </a:r>
            <a:r>
              <a:rPr b="0" i="0" lang="en-US" sz="1350" u="none" cap="none" strike="noStrike">
                <a:solidFill>
                  <a:srgbClr val="FF6D0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compressione dinamica aggressiva e l'impatto sonoro</a:t>
            </a:r>
            <a:r>
              <a:rPr b="0" i="0" lang="en-US" sz="13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" name="Google Shape;212;p21"/>
          <p:cNvSpPr txBox="1"/>
          <p:nvPr/>
        </p:nvSpPr>
        <p:spPr>
          <a:xfrm>
            <a:off x="771525" y="6467475"/>
            <a:ext cx="3057600" cy="142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Visualizzazione Scientifica — Progetto Universitario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" name="Google Shape;213;p21"/>
          <p:cNvSpPr txBox="1"/>
          <p:nvPr/>
        </p:nvSpPr>
        <p:spPr>
          <a:xfrm>
            <a:off x="11039475" y="6467475"/>
            <a:ext cx="3810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0</a:t>
            </a:r>
            <a:r>
              <a:rPr lang="en-US" sz="900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9</a:t>
            </a:r>
            <a:r>
              <a:rPr b="0" i="0" lang="en-US" sz="900" u="none" cap="none" strike="noStrike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/ 1</a:t>
            </a:r>
            <a:r>
              <a:rPr lang="en-US" sz="900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21"/>
          <p:cNvSpPr txBox="1"/>
          <p:nvPr/>
        </p:nvSpPr>
        <p:spPr>
          <a:xfrm>
            <a:off x="1009650" y="1491238"/>
            <a:ext cx="5458500" cy="54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Compressione Dinamica (Loudness)</a:t>
            </a:r>
            <a:r>
              <a:rPr b="0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: Le hit si addensano sistematicamente tra </a:t>
            </a:r>
            <a:r>
              <a:rPr lang="en-US" sz="1350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0</a:t>
            </a:r>
            <a:r>
              <a:rPr b="0" i="0" lang="en-US" sz="1350" u="none" cap="none" strike="noStrike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dB e -10 dB</a:t>
            </a:r>
            <a:r>
              <a:rPr b="0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" name="Google Shape;215;p21"/>
          <p:cNvSpPr txBox="1"/>
          <p:nvPr/>
        </p:nvSpPr>
        <p:spPr>
          <a:xfrm>
            <a:off x="6057225" y="1491244"/>
            <a:ext cx="5458500" cy="54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Energia Elevata</a:t>
            </a:r>
            <a:r>
              <a:rPr b="0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: Il coefficiente ottimale di stimolo ad alta intensità supera stabilmente il valore critico di </a:t>
            </a:r>
            <a:r>
              <a:rPr b="0" i="0" lang="en-US" sz="1350" u="none" cap="none" strike="noStrike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0.75</a:t>
            </a:r>
            <a:r>
              <a:rPr b="0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21"/>
          <p:cNvSpPr txBox="1"/>
          <p:nvPr/>
        </p:nvSpPr>
        <p:spPr>
          <a:xfrm>
            <a:off x="771525" y="1472188"/>
            <a:ext cx="1335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FF6D00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" name="Google Shape;217;p21"/>
          <p:cNvSpPr txBox="1"/>
          <p:nvPr/>
        </p:nvSpPr>
        <p:spPr>
          <a:xfrm flipH="1">
            <a:off x="5888525" y="1472223"/>
            <a:ext cx="3810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FF6D00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8" name="Google Shape;218;p21" title="EnergiVolume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71525" y="2156200"/>
            <a:ext cx="11031374" cy="4187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23" name="Google Shape;223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1525" y="6353175"/>
            <a:ext cx="10648949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22"/>
          <p:cNvSpPr txBox="1"/>
          <p:nvPr/>
        </p:nvSpPr>
        <p:spPr>
          <a:xfrm>
            <a:off x="914400" y="581025"/>
            <a:ext cx="110313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rPr b="0" i="0" lang="en-US" sz="2100" u="none" cap="none" strike="noStrike">
                <a:solidFill>
                  <a:srgbClr val="1E1B24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VALENCE: EMOZIONI TRASVERSALI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22"/>
          <p:cNvSpPr/>
          <p:nvPr/>
        </p:nvSpPr>
        <p:spPr>
          <a:xfrm>
            <a:off x="771525" y="581025"/>
            <a:ext cx="47700" cy="320100"/>
          </a:xfrm>
          <a:prstGeom prst="rect">
            <a:avLst/>
          </a:prstGeom>
          <a:solidFill>
            <a:srgbClr val="FF6D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22"/>
          <p:cNvSpPr txBox="1"/>
          <p:nvPr/>
        </p:nvSpPr>
        <p:spPr>
          <a:xfrm>
            <a:off x="771525" y="996255"/>
            <a:ext cx="106491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La popolarità si distribuisce equamente lungo l'intero spettro emotivo, </a:t>
            </a:r>
            <a:r>
              <a:rPr b="0" i="0" lang="en-US" sz="1200" u="none" cap="none" strike="noStrike">
                <a:solidFill>
                  <a:srgbClr val="FF6D0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senza preferenze tra euforia e malinconia</a:t>
            </a:r>
            <a:r>
              <a:rPr b="0" i="0" lang="en-US" sz="120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2"/>
          <p:cNvSpPr txBox="1"/>
          <p:nvPr/>
        </p:nvSpPr>
        <p:spPr>
          <a:xfrm>
            <a:off x="771525" y="6477000"/>
            <a:ext cx="2857500" cy="12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Visualizzazione Scientifica — Progetto Universitario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" name="Google Shape;228;p22"/>
          <p:cNvSpPr txBox="1"/>
          <p:nvPr/>
        </p:nvSpPr>
        <p:spPr>
          <a:xfrm>
            <a:off x="11115675" y="6477000"/>
            <a:ext cx="432000" cy="12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1</a:t>
            </a:r>
            <a:r>
              <a:rPr lang="en-US" sz="825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0</a:t>
            </a:r>
            <a:r>
              <a:rPr b="0" i="0" lang="en-US" sz="825" u="none" cap="none" strike="noStrike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/ 1</a:t>
            </a:r>
            <a:r>
              <a:rPr lang="en-US" sz="825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" name="Google Shape;229;p22"/>
          <p:cNvSpPr txBox="1"/>
          <p:nvPr/>
        </p:nvSpPr>
        <p:spPr>
          <a:xfrm>
            <a:off x="377963" y="1430438"/>
            <a:ext cx="56658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Assenza di Bias Emotivo</a:t>
            </a:r>
            <a:r>
              <a:rPr b="0" i="0" lang="en-US" sz="12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: Sia tracce malinconiche (basso valence) che inni solari ed energici (alto valence) hanno lo stesso potenziale di posizionamento algoritmico.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" name="Google Shape;230;p22"/>
          <p:cNvSpPr txBox="1"/>
          <p:nvPr/>
        </p:nvSpPr>
        <p:spPr>
          <a:xfrm>
            <a:off x="6386513" y="1454250"/>
            <a:ext cx="56658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1E1B24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Complementarità con l'Energia</a:t>
            </a:r>
            <a:r>
              <a:rPr b="0" i="0" lang="en-US" sz="12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: Un brano triste (basso valence) può comunque dominare le hit purché mantenga una spiccata energia e un tempo costante.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1" name="Google Shape;231;p22"/>
          <p:cNvSpPr txBox="1"/>
          <p:nvPr/>
        </p:nvSpPr>
        <p:spPr>
          <a:xfrm>
            <a:off x="139838" y="1382813"/>
            <a:ext cx="1335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FF6D00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22"/>
          <p:cNvSpPr txBox="1"/>
          <p:nvPr/>
        </p:nvSpPr>
        <p:spPr>
          <a:xfrm>
            <a:off x="6148388" y="1406626"/>
            <a:ext cx="1335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FF6D00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33" name="Google Shape;233;p22" title="valence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39850" y="2345550"/>
            <a:ext cx="11805851" cy="4007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38" name="Google Shape;23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1525" y="6343650"/>
            <a:ext cx="10648950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p23"/>
          <p:cNvSpPr txBox="1"/>
          <p:nvPr/>
        </p:nvSpPr>
        <p:spPr>
          <a:xfrm>
            <a:off x="914400" y="581025"/>
            <a:ext cx="11031378" cy="3656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1E1B24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RITMO: PICCO IDEALE A ~120 BPM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0" name="Google Shape;240;p23"/>
          <p:cNvSpPr/>
          <p:nvPr/>
        </p:nvSpPr>
        <p:spPr>
          <a:xfrm>
            <a:off x="771525" y="581025"/>
            <a:ext cx="47625" cy="365670"/>
          </a:xfrm>
          <a:prstGeom prst="rect">
            <a:avLst/>
          </a:prstGeom>
          <a:solidFill>
            <a:srgbClr val="FF6D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23"/>
          <p:cNvSpPr txBox="1"/>
          <p:nvPr/>
        </p:nvSpPr>
        <p:spPr>
          <a:xfrm>
            <a:off x="771525" y="1041945"/>
            <a:ext cx="10648950" cy="2399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La risonanza motoria dell'essere umano e il battito cardiaco medio in movimento determinano </a:t>
            </a:r>
            <a:r>
              <a:rPr b="0" i="0" lang="en-US" sz="1350" u="none" cap="none" strike="noStrike">
                <a:solidFill>
                  <a:srgbClr val="FF6D0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la selezione naturale dei ritmi</a:t>
            </a:r>
            <a:r>
              <a:rPr b="0" i="0" lang="en-US" sz="13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23"/>
          <p:cNvSpPr txBox="1"/>
          <p:nvPr/>
        </p:nvSpPr>
        <p:spPr>
          <a:xfrm>
            <a:off x="771525" y="6467475"/>
            <a:ext cx="3057525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Visualizzazione Scientifica — Progetto Universitario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23"/>
          <p:cNvSpPr txBox="1"/>
          <p:nvPr/>
        </p:nvSpPr>
        <p:spPr>
          <a:xfrm>
            <a:off x="11049000" y="6467475"/>
            <a:ext cx="3714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11</a:t>
            </a:r>
            <a:r>
              <a:rPr b="0" i="0" lang="en-US" sz="900" u="none" cap="none" strike="noStrike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/ 1</a:t>
            </a:r>
            <a:r>
              <a:rPr lang="en-US" sz="900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4" name="Google Shape;244;p23" title="bpm.pn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00475" y="1410175"/>
            <a:ext cx="10889775" cy="4845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49" name="Google Shape;249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1525" y="6343650"/>
            <a:ext cx="10648949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250" name="Google Shape;250;p24"/>
          <p:cNvSpPr txBox="1"/>
          <p:nvPr/>
        </p:nvSpPr>
        <p:spPr>
          <a:xfrm>
            <a:off x="914400" y="581025"/>
            <a:ext cx="110313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1E1B24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ML: TEMPO ED ENERGIA GUIDANO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1" name="Google Shape;251;p24"/>
          <p:cNvSpPr/>
          <p:nvPr/>
        </p:nvSpPr>
        <p:spPr>
          <a:xfrm>
            <a:off x="771525" y="581025"/>
            <a:ext cx="47700" cy="365700"/>
          </a:xfrm>
          <a:prstGeom prst="rect">
            <a:avLst/>
          </a:prstGeom>
          <a:solidFill>
            <a:srgbClr val="FF6D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24"/>
          <p:cNvSpPr txBox="1"/>
          <p:nvPr/>
        </p:nvSpPr>
        <p:spPr>
          <a:xfrm>
            <a:off x="771525" y="1041945"/>
            <a:ext cx="106491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La modellazione statistica predittiva con Random Forest isola </a:t>
            </a:r>
            <a:r>
              <a:rPr b="0" i="0" lang="en-US" sz="1350" u="none" cap="none" strike="noStrike">
                <a:solidFill>
                  <a:srgbClr val="FF6D0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il peso effettivo delle singole feature acustiche</a:t>
            </a:r>
            <a:r>
              <a:rPr b="0" i="0" lang="en-US" sz="13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" name="Google Shape;253;p24"/>
          <p:cNvSpPr txBox="1"/>
          <p:nvPr/>
        </p:nvSpPr>
        <p:spPr>
          <a:xfrm>
            <a:off x="771525" y="6467475"/>
            <a:ext cx="30576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Visualizzazione Scientifica — Progetto Universitario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24"/>
          <p:cNvSpPr txBox="1"/>
          <p:nvPr/>
        </p:nvSpPr>
        <p:spPr>
          <a:xfrm>
            <a:off x="11039475" y="6467475"/>
            <a:ext cx="3810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12</a:t>
            </a:r>
            <a:r>
              <a:rPr b="0" i="0" lang="en-US" sz="900" u="none" cap="none" strike="noStrike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/ </a:t>
            </a:r>
            <a:r>
              <a:rPr lang="en-US" sz="900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15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5" name="Google Shape;255;p24"/>
          <p:cNvSpPr txBox="1"/>
          <p:nvPr/>
        </p:nvSpPr>
        <p:spPr>
          <a:xfrm>
            <a:off x="7453250" y="5911300"/>
            <a:ext cx="8193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-US" sz="110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METRICA GINI: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56" name="Google Shape;256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443700" y="5817624"/>
            <a:ext cx="1938570" cy="488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7" name="Google Shape;257;p24" title="attr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63000" y="1402250"/>
            <a:ext cx="11686825" cy="4262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62" name="Google Shape;262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1525" y="6343650"/>
            <a:ext cx="10648949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263" name="Google Shape;263;p25"/>
          <p:cNvSpPr txBox="1"/>
          <p:nvPr/>
        </p:nvSpPr>
        <p:spPr>
          <a:xfrm>
            <a:off x="914400" y="250050"/>
            <a:ext cx="110313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rgbClr val="1E1B24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Correlazione Tra le caratteristiche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25"/>
          <p:cNvSpPr/>
          <p:nvPr/>
        </p:nvSpPr>
        <p:spPr>
          <a:xfrm>
            <a:off x="771525" y="250050"/>
            <a:ext cx="47700" cy="365700"/>
          </a:xfrm>
          <a:prstGeom prst="rect">
            <a:avLst/>
          </a:prstGeom>
          <a:solidFill>
            <a:srgbClr val="FF6D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25"/>
          <p:cNvSpPr txBox="1"/>
          <p:nvPr/>
        </p:nvSpPr>
        <p:spPr>
          <a:xfrm>
            <a:off x="771525" y="6467475"/>
            <a:ext cx="30576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Visualizzazione Scientifica — Progetto Universitario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6" name="Google Shape;266;p25"/>
          <p:cNvSpPr txBox="1"/>
          <p:nvPr/>
        </p:nvSpPr>
        <p:spPr>
          <a:xfrm>
            <a:off x="11039475" y="6467475"/>
            <a:ext cx="3810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13</a:t>
            </a:r>
            <a:r>
              <a:rPr b="0" i="0" lang="en-US" sz="900" u="none" cap="none" strike="noStrike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/ 1</a:t>
            </a:r>
            <a:r>
              <a:rPr lang="en-US" sz="900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67" name="Google Shape;267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20102" y="617911"/>
            <a:ext cx="10899013" cy="579840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72" name="Google Shape;272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1525" y="6343650"/>
            <a:ext cx="10648950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73" name="Google Shape;273;p2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71525" y="2899171"/>
            <a:ext cx="3359050" cy="23336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74" name="Google Shape;274;p2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416325" y="2899171"/>
            <a:ext cx="3359199" cy="23336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75" name="Google Shape;275;p2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061275" y="2899171"/>
            <a:ext cx="3359050" cy="2333625"/>
          </a:xfrm>
          <a:prstGeom prst="rect">
            <a:avLst/>
          </a:prstGeom>
          <a:noFill/>
          <a:ln>
            <a:noFill/>
          </a:ln>
        </p:spPr>
      </p:pic>
      <p:sp>
        <p:nvSpPr>
          <p:cNvPr id="276" name="Google Shape;276;p26"/>
          <p:cNvSpPr txBox="1"/>
          <p:nvPr/>
        </p:nvSpPr>
        <p:spPr>
          <a:xfrm>
            <a:off x="914400" y="581025"/>
            <a:ext cx="11031378" cy="3656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1E1B24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MANUALE: RICETTA PER LA HIT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26"/>
          <p:cNvSpPr/>
          <p:nvPr/>
        </p:nvSpPr>
        <p:spPr>
          <a:xfrm>
            <a:off x="771525" y="581025"/>
            <a:ext cx="47625" cy="365670"/>
          </a:xfrm>
          <a:prstGeom prst="rect">
            <a:avLst/>
          </a:prstGeom>
          <a:solidFill>
            <a:srgbClr val="FF6D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26"/>
          <p:cNvSpPr txBox="1"/>
          <p:nvPr/>
        </p:nvSpPr>
        <p:spPr>
          <a:xfrm>
            <a:off x="771525" y="1041945"/>
            <a:ext cx="10649100" cy="49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La ricetta oggettiva ricavata dall'analisi più di 1</a:t>
            </a:r>
            <a:r>
              <a:rPr lang="en-US" sz="135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00</a:t>
            </a:r>
            <a:r>
              <a:rPr b="0" i="0" lang="en-US" sz="13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.000 tracce: </a:t>
            </a:r>
            <a:r>
              <a:rPr b="0" i="0" lang="en-US" sz="1350" u="none" cap="none" strike="noStrike">
                <a:solidFill>
                  <a:srgbClr val="FF6D0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tre regole auree per incrementare le probabilità di posizionamento algoritmico</a:t>
            </a:r>
            <a:r>
              <a:rPr b="0" i="0" lang="en-US" sz="13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9" name="Google Shape;279;p26"/>
          <p:cNvSpPr txBox="1"/>
          <p:nvPr/>
        </p:nvSpPr>
        <p:spPr>
          <a:xfrm>
            <a:off x="771525" y="6467475"/>
            <a:ext cx="3057525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Visualizzazione Scientifica — Progetto Universitario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0" name="Google Shape;280;p26"/>
          <p:cNvSpPr txBox="1"/>
          <p:nvPr/>
        </p:nvSpPr>
        <p:spPr>
          <a:xfrm>
            <a:off x="11039475" y="6467475"/>
            <a:ext cx="3810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14</a:t>
            </a:r>
            <a:r>
              <a:rPr b="0" i="0" lang="en-US" sz="900" u="none" cap="none" strike="noStrike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/ 1</a:t>
            </a:r>
            <a:r>
              <a:rPr lang="en-US" sz="900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1" name="Google Shape;281;p26"/>
          <p:cNvSpPr txBox="1"/>
          <p:nvPr/>
        </p:nvSpPr>
        <p:spPr>
          <a:xfrm>
            <a:off x="1066800" y="3708796"/>
            <a:ext cx="2906925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E1B24"/>
                </a:solidFill>
                <a:latin typeface="Inter"/>
                <a:ea typeface="Inter"/>
                <a:cs typeface="Inter"/>
                <a:sym typeface="Inter"/>
              </a:rPr>
              <a:t>Sotto i 3.5 Minuti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2" name="Google Shape;282;p26"/>
          <p:cNvSpPr txBox="1"/>
          <p:nvPr/>
        </p:nvSpPr>
        <p:spPr>
          <a:xfrm>
            <a:off x="1066800" y="4080271"/>
            <a:ext cx="27685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Massimizza la ritenzione dell'ascolto medio, minimizza l'abbandono precoce (skip-rate) e si adatta perfettamente alle abitudini di fruizione rapida.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3" name="Google Shape;283;p26"/>
          <p:cNvSpPr txBox="1"/>
          <p:nvPr/>
        </p:nvSpPr>
        <p:spPr>
          <a:xfrm>
            <a:off x="4711600" y="3708796"/>
            <a:ext cx="2907082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E1B24"/>
                </a:solidFill>
                <a:latin typeface="Inter"/>
                <a:ea typeface="Inter"/>
                <a:cs typeface="Inter"/>
                <a:sym typeface="Inter"/>
              </a:rPr>
              <a:t>Energia &amp; Loudness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4" name="Google Shape;284;p26"/>
          <p:cNvSpPr txBox="1"/>
          <p:nvPr/>
        </p:nvSpPr>
        <p:spPr>
          <a:xfrm>
            <a:off x="4711600" y="4080271"/>
            <a:ext cx="2768649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Progettare arrangiamenti densi ed energici con compressione loudness tra -5dB e -8dB. La timbrica acustica naturale va fortemente limitata.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5" name="Google Shape;285;p26"/>
          <p:cNvSpPr txBox="1"/>
          <p:nvPr/>
        </p:nvSpPr>
        <p:spPr>
          <a:xfrm>
            <a:off x="8356550" y="3708796"/>
            <a:ext cx="2906925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E1B24"/>
                </a:solidFill>
                <a:latin typeface="Inter"/>
                <a:ea typeface="Inter"/>
                <a:cs typeface="Inter"/>
                <a:sym typeface="Inter"/>
              </a:rPr>
              <a:t>Sincronia a ~120 BPM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6" name="Google Shape;286;p26"/>
          <p:cNvSpPr txBox="1"/>
          <p:nvPr/>
        </p:nvSpPr>
        <p:spPr>
          <a:xfrm>
            <a:off x="8356550" y="4080271"/>
            <a:ext cx="2768500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Agganciare il corpo dell'ascoltatore. La vicinanza al battito cardiaco medio in camminata attiva massimizza l'engagement cinetico spontaneo.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87" name="Google Shape;287;p2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066800" y="3223021"/>
            <a:ext cx="3048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88" name="Google Shape;288;p26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711600" y="3223021"/>
            <a:ext cx="2667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89" name="Google Shape;289;p26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8356550" y="3223021"/>
            <a:ext cx="304800" cy="30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94" name="Google Shape;294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1525" y="6343650"/>
            <a:ext cx="10648950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295" name="Google Shape;295;p27"/>
          <p:cNvSpPr txBox="1"/>
          <p:nvPr/>
        </p:nvSpPr>
        <p:spPr>
          <a:xfrm>
            <a:off x="914400" y="581025"/>
            <a:ext cx="11031378" cy="3656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1E1B24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CONTATTI E APPROFONDIMENTI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6" name="Google Shape;296;p27"/>
          <p:cNvSpPr/>
          <p:nvPr/>
        </p:nvSpPr>
        <p:spPr>
          <a:xfrm>
            <a:off x="771525" y="581025"/>
            <a:ext cx="47625" cy="365670"/>
          </a:xfrm>
          <a:prstGeom prst="rect">
            <a:avLst/>
          </a:prstGeom>
          <a:solidFill>
            <a:srgbClr val="FF6D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27"/>
          <p:cNvSpPr txBox="1"/>
          <p:nvPr/>
        </p:nvSpPr>
        <p:spPr>
          <a:xfrm>
            <a:off x="771525" y="1041945"/>
            <a:ext cx="10648950" cy="2399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9925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rPr b="0" i="0" lang="en-US" sz="13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L'ingegnerizzazione del successo converte l'intuizione artistica in una </a:t>
            </a:r>
            <a:r>
              <a:rPr b="0" i="0" lang="en-US" sz="1350" u="none" cap="none" strike="noStrike">
                <a:solidFill>
                  <a:srgbClr val="FF6D00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scienza esatta governata interamente dai dati</a:t>
            </a:r>
            <a:r>
              <a:rPr b="0" i="0" lang="en-US" sz="13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8" name="Google Shape;298;p27"/>
          <p:cNvSpPr txBox="1"/>
          <p:nvPr/>
        </p:nvSpPr>
        <p:spPr>
          <a:xfrm>
            <a:off x="771525" y="6467475"/>
            <a:ext cx="3057525" cy="1428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Visualizzazione Scientifica — Progetto Universitario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9" name="Google Shape;299;p27"/>
          <p:cNvSpPr txBox="1"/>
          <p:nvPr/>
        </p:nvSpPr>
        <p:spPr>
          <a:xfrm>
            <a:off x="11068050" y="6467475"/>
            <a:ext cx="3525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15</a:t>
            </a:r>
            <a:r>
              <a:rPr b="0" i="0" lang="en-US" sz="900" u="none" cap="none" strike="noStrike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/ 1</a:t>
            </a:r>
            <a:r>
              <a:rPr lang="en-US" sz="900">
                <a:solidFill>
                  <a:srgbClr val="94A3B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300" name="Google Shape;300;p27"/>
          <p:cNvGraphicFramePr/>
          <p:nvPr/>
        </p:nvGraphicFramePr>
        <p:xfrm>
          <a:off x="771525" y="27601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{683E646A-FC96-4DF3-9704-AAC572B8C453}</a:tableStyleId>
              </a:tblPr>
              <a:tblGrid>
                <a:gridCol w="1584575"/>
                <a:gridCol w="3048150"/>
              </a:tblGrid>
              <a:tr h="6286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75"/>
                        <a:buFont typeface="Arial"/>
                        <a:buNone/>
                      </a:pPr>
                      <a:r>
                        <a:rPr b="1" i="0" lang="en-US" sz="975" u="none" cap="none" strike="noStrike">
                          <a:solidFill>
                            <a:srgbClr val="1E1B24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Analista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75"/>
                        <a:buFont typeface="Arial"/>
                        <a:buNone/>
                      </a:pPr>
                      <a:r>
                        <a:rPr b="1" i="0" lang="en-US" sz="975" u="none" cap="none" strike="noStrike">
                          <a:solidFill>
                            <a:srgbClr val="1E1B24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Email Istituzionale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8FAFC"/>
                    </a:solidFill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25"/>
                        <a:buFont typeface="Arial"/>
                        <a:buNone/>
                      </a:pPr>
                      <a:r>
                        <a:rPr b="1" i="0" lang="en-US" sz="1125" u="none" cap="none" strike="noStrik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Taha Anass Seddik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25"/>
                        <a:buFont typeface="Arial"/>
                        <a:buNone/>
                      </a:pPr>
                      <a:r>
                        <a:rPr b="0" i="0" lang="en-US" sz="1125" u="none" cap="none" strike="noStrik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tahaanass.seddik@studenti.unimi.it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286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25"/>
                        <a:buFont typeface="Arial"/>
                        <a:buNone/>
                      </a:pPr>
                      <a:r>
                        <a:rPr b="1" i="0" lang="en-US" sz="1125" u="none" cap="none" strike="noStrik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Daniele Zmarandache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25"/>
                        <a:buFont typeface="Arial"/>
                        <a:buNone/>
                      </a:pPr>
                      <a:r>
                        <a:rPr b="0" i="0" lang="en-US" sz="1125" u="none" cap="none" strike="noStrik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daniele.zmarandache@studenti.unimi.it</a:t>
                      </a:r>
                      <a:endParaRPr sz="1400" u="none" cap="none" strike="noStrike"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301" name="Google Shape;301;p27"/>
          <p:cNvSpPr txBox="1"/>
          <p:nvPr/>
        </p:nvSpPr>
        <p:spPr>
          <a:xfrm>
            <a:off x="771525" y="4836616"/>
            <a:ext cx="66120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1" lang="en-US" sz="10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Università degli Studi di Milano — </a:t>
            </a:r>
            <a:r>
              <a:rPr i="1" lang="en-US" sz="105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Informatica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2" name="Google Shape;302;p27"/>
          <p:cNvSpPr/>
          <p:nvPr/>
        </p:nvSpPr>
        <p:spPr>
          <a:xfrm>
            <a:off x="771525" y="3174503"/>
            <a:ext cx="158457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27"/>
          <p:cNvSpPr/>
          <p:nvPr/>
        </p:nvSpPr>
        <p:spPr>
          <a:xfrm>
            <a:off x="2356098" y="3174503"/>
            <a:ext cx="1979414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27"/>
          <p:cNvSpPr/>
          <p:nvPr/>
        </p:nvSpPr>
        <p:spPr>
          <a:xfrm>
            <a:off x="4335512" y="3174503"/>
            <a:ext cx="3048148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27"/>
          <p:cNvSpPr/>
          <p:nvPr/>
        </p:nvSpPr>
        <p:spPr>
          <a:xfrm>
            <a:off x="771525" y="3812678"/>
            <a:ext cx="158457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27"/>
          <p:cNvSpPr/>
          <p:nvPr/>
        </p:nvSpPr>
        <p:spPr>
          <a:xfrm>
            <a:off x="2356098" y="3812678"/>
            <a:ext cx="1979414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27"/>
          <p:cNvSpPr/>
          <p:nvPr/>
        </p:nvSpPr>
        <p:spPr>
          <a:xfrm>
            <a:off x="4335512" y="3812678"/>
            <a:ext cx="3048148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27"/>
          <p:cNvSpPr/>
          <p:nvPr/>
        </p:nvSpPr>
        <p:spPr>
          <a:xfrm>
            <a:off x="771525" y="4631828"/>
            <a:ext cx="158457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27"/>
          <p:cNvSpPr/>
          <p:nvPr/>
        </p:nvSpPr>
        <p:spPr>
          <a:xfrm>
            <a:off x="2356098" y="4631828"/>
            <a:ext cx="1979414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27"/>
          <p:cNvSpPr/>
          <p:nvPr/>
        </p:nvSpPr>
        <p:spPr>
          <a:xfrm>
            <a:off x="4335512" y="4631828"/>
            <a:ext cx="3048148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311" name="Google Shape;311;p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387953" y="2147887"/>
            <a:ext cx="2286000" cy="2286000"/>
          </a:xfrm>
          <a:prstGeom prst="rect">
            <a:avLst/>
          </a:prstGeom>
          <a:noFill/>
          <a:ln>
            <a:noFill/>
          </a:ln>
        </p:spPr>
      </p:pic>
      <p:sp>
        <p:nvSpPr>
          <p:cNvPr id="312" name="Google Shape;312;p27"/>
          <p:cNvSpPr txBox="1"/>
          <p:nvPr/>
        </p:nvSpPr>
        <p:spPr>
          <a:xfrm>
            <a:off x="8749903" y="4576762"/>
            <a:ext cx="1562100" cy="126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25"/>
              <a:buFont typeface="Arial"/>
              <a:buNone/>
            </a:pPr>
            <a:r>
              <a:rPr b="0" i="0" lang="en-US" sz="825" u="none" cap="none" strike="noStrike">
                <a:solidFill>
                  <a:srgbClr val="64748B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REPOSITORY CODICE &amp; DATI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13" name="Google Shape;313;p27" title="qrcode_github.co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609401" y="2318075"/>
            <a:ext cx="1843088" cy="18430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